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Average % error (MAPE)</c:v>
                </c:pt>
              </c:strCache>
            </c:strRef>
          </c:tx>
          <c:dPt>
            <c:idx val="0"/>
            <c:spPr>
              <a:solidFill>
                <a:srgbClr val="F4A83A"/>
              </a:solidFill>
            </c:spPr>
          </c:dPt>
          <c:dPt>
            <c:idx val="1"/>
            <c:spPr>
              <a:solidFill>
                <a:srgbClr val="1B7F8C"/>
              </a:solidFill>
            </c:spPr>
          </c:dPt>
          <c:dPt>
            <c:idx val="2"/>
            <c:spPr>
              <a:solidFill>
                <a:srgbClr val="1B7F8C"/>
              </a:solidFill>
            </c:spPr>
          </c:dPt>
          <c:dPt>
            <c:idx val="3"/>
            <c:spPr>
              <a:solidFill>
                <a:srgbClr val="1B7F8C"/>
              </a:solidFill>
            </c:spPr>
          </c:dPt>
          <c:dPt>
            <c:idx val="4"/>
            <c:spPr>
              <a:solidFill>
                <a:srgbClr val="1B7F8C"/>
              </a:solidFill>
            </c:spPr>
          </c:dPt>
          <c:dPt>
            <c:idx val="5"/>
            <c:spPr>
              <a:solidFill>
                <a:srgbClr val="1B7F8C"/>
              </a:solidFill>
            </c:spPr>
          </c:dPt>
          <c:dPt>
            <c:idx val="6"/>
            <c:spPr>
              <a:solidFill>
                <a:srgbClr val="1B7F8C"/>
              </a:solidFill>
            </c:spPr>
          </c:dPt>
          <c:dPt>
            <c:idx val="7"/>
            <c:spPr>
              <a:solidFill>
                <a:srgbClr val="9CA9B6"/>
              </a:solidFill>
            </c:spPr>
          </c:dPt>
          <c:dPt>
            <c:idx val="8"/>
            <c:spPr>
              <a:solidFill>
                <a:srgbClr val="9CA9B6"/>
              </a:solidFill>
            </c:spPr>
          </c:dPt>
          <c:cat>
            <c:strRef>
              <c:f>Sheet1!$A$2:$A$10</c:f>
              <c:strCache>
                <c:ptCount val="9"/>
                <c:pt idx="0">
                  <c:v>Stacking</c:v>
                </c:pt>
                <c:pt idx="1">
                  <c:v>Voting</c:v>
                </c:pt>
                <c:pt idx="2">
                  <c:v>CatBoost</c:v>
                </c:pt>
                <c:pt idx="3">
                  <c:v>LightGBM</c:v>
                </c:pt>
                <c:pt idx="4">
                  <c:v>XGBoost</c:v>
                </c:pt>
                <c:pt idx="5">
                  <c:v>Gradient Boosting</c:v>
                </c:pt>
                <c:pt idx="6">
                  <c:v>Random Forest</c:v>
                </c:pt>
                <c:pt idx="7">
                  <c:v>Ridge (baseline)</c:v>
                </c:pt>
                <c:pt idx="8">
                  <c:v>Decision Tree (baseline)</c:v>
                </c:pt>
              </c:strCache>
            </c:strRef>
          </c:cat>
          <c:val>
            <c:numRef>
              <c:f>Sheet1!$B$2:$B$10</c:f>
              <c:numCache>
                <c:formatCode>General</c:formatCode>
                <c:ptCount val="9"/>
                <c:pt idx="0">
                  <c:v>12.6</c:v>
                </c:pt>
                <c:pt idx="1">
                  <c:v>12.8</c:v>
                </c:pt>
                <c:pt idx="2">
                  <c:v>13.1</c:v>
                </c:pt>
                <c:pt idx="3">
                  <c:v>14.0</c:v>
                </c:pt>
                <c:pt idx="4">
                  <c:v>14.5</c:v>
                </c:pt>
                <c:pt idx="5">
                  <c:v>14.7</c:v>
                </c:pt>
                <c:pt idx="6">
                  <c:v>15.9</c:v>
                </c:pt>
                <c:pt idx="7">
                  <c:v>16.7</c:v>
                </c:pt>
                <c:pt idx="8">
                  <c:v>23.5</c:v>
                </c:pt>
              </c:numCache>
            </c:numRef>
          </c:val>
        </c:ser>
        <c:dLbls>
          <c:numFmt formatCode="0.0&quot;%&quot;" sourceLinked="0"/>
          <c:txPr>
            <a:bodyPr/>
            <a:lstStyle/>
            <a:p>
              <a:pPr>
                <a:defRPr sz="1300" b="1">
                  <a:solidFill>
                    <a:srgbClr val="1F2933"/>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DE3EA"/>
            </a:solidFill>
          </a:ln>
        </c:spPr>
        <c:crossAx val="-2113994440"/>
        <c:crosses val="autoZero"/>
        <c:auto val="1"/>
        <c:lblAlgn val="ctr"/>
        <c:lblOffset val="100"/>
        <c:noMultiLvlLbl val="0"/>
      </c:catAx>
      <c:valAx>
        <c:axId val="-2113994440"/>
        <c:scaling>
          <c:max val="27.0"/>
          <c:min val="0.0"/>
        </c:scaling>
        <c:delete/>
        <c:axPos val="b"/>
        <c:majorTickMark val="out"/>
        <c:minorTickMark val="none"/>
        <c:tickLblPos val="nextTo"/>
        <c:crossAx val="-2068027336"/>
        <c:crosses val="autoZero"/>
      </c:valAx>
    </c:plotArea>
    <c:dispBlanksAs val="gap"/>
  </c:chart>
  <c:txPr>
    <a:bodyPr/>
    <a:lstStyle/>
    <a:p>
      <a:pPr>
        <a:defRPr sz="13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I'm Lakshan. I built a model that estimates the asking price of a car in Sri Lanka. The headline result: on cars the model never saw, the average error is about 12.6 percent.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local problem. Since imports were restricted in 2020, used-car prices rose sharply and became hard to judge. Many cars are reconditioned Japanese imports, and hybrids and EVs are growing. The goal is a regression model that estimates the asking price in rupees.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collected my own data from ikman.lk, Sri Lanka's biggest classifieds site, using a polite scraper that respects robots.txt. The target is the asking price, which is higher than the final sale price - I state that as a limitation.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is extremely skewed - a few luxury cars cost over 200 million rupees - so I train on log price, which also means the model optimises percentage error. Condition is the biggest divider, a uniquely Sri Lankan feature. And with 351 car models this is a high-cardinality categorical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errors are nulls. I found placeholder prices, a 595 million rupee BMW with a 1 cc electric engine, future model years and fake mileages. I used domain knowledge to decide what to drop, what to impute and what to keep - vintage Sunnys and luxury Porsches are real parts of the Sri Lankan market.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compared two baselines, five tuned single models and two ensembles. The lecturer's rule was no defaults, so I designed each search space from how the algorithm works. Boosters use shallow trees and small learning rates because 2,400 noisy rows overfit easily; Random Forest can use deep trees because bagging reduces variance.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Ensembles beat the baselines by a wide margin: average error falls from 23.5 percent for a single tree to about 13 percent for the boosters, and R-squared in rupees rises from 0.74 to 0.91. CatBoost is the best single model. Stacking and CatBoost are almost tied on log error, so I don't oversell the stack - its gain shows in R-squared and rupee error.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model has trade-offs. Ridge is transparent but too simple for depreciation curves. Random Forest cannot predict beyond the price range it saw, so luxury cars are under-priced. CatBoost handles the many categories natively, which is why it won among single models. Stacking is the most complex for a small 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explains the whole model: engine size, age and mileage matter most, and the directions make sense - newer, lower-mileage and bigger-engine cars cost more. LIME explains one car: this Suzuki Alto is cheaper because of its small engine and manual gearbox. LIME on a 2007 Santa Fe revealed a mileage under 15,000 km - almost certainly a typo - so the explanation also works as a data-quality check.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bonus I built an MLOps loop. Every push runs nine automated tests and a Docker health check. The image is published and runs on Azure Container Apps, and also on Streamlit Cloud. Every week the pipeline collects fresh ads, checks for drift with PSI and KS tests and measures live accuracy. If drift appears, it retrains a challenger and only promotes it if it is no worse than the current model on ads neither has seen, then opens a pull request for a human to approve.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Streamlit app: pick the car's details, press Predict, and it returns an estimated price with a plus-or-minus 13 percent range. One car was kept out of all training; the model predicted 7.43 million against an actual 7.48 million - 0.6 percent off. Limits: asking prices, one website, 3,000 ads. Next: add a time-series component for market drift, more data sources, and MLOps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3"/>
        </a:solidFill>
        <a:effectLst/>
      </p:bgPr>
    </p:bg>
    <p:spTree>
      <p:nvGrpSpPr>
        <p:cNvPr id="1" name=""/>
        <p:cNvGrpSpPr/>
        <p:nvPr/>
      </p:nvGrpSpPr>
      <p:grpSpPr/>
      <p:sp>
        <p:nvSpPr>
          <p:cNvPr id="2" name="Title"/>
          <p:cNvSpPr txBox="1"/>
          <p:nvPr/>
        </p:nvSpPr>
        <p:spPr>
          <a:xfrm>
            <a:off x="731520" y="1371600"/>
            <a:ext cx="6949440" cy="2011680"/>
          </a:xfrm>
          <a:prstGeom prst="rect">
            <a:avLst/>
          </a:prstGeom>
          <a:noFill/>
        </p:spPr>
        <p:txBody>
          <a:bodyPr wrap="square" lIns="0" rIns="0" tIns="0" bIns="0" anchor="t">
            <a:spAutoFit/>
          </a:bodyPr>
          <a:lstStyle/>
          <a:p>
            <a:pPr algn="l"/>
            <a:r>
              <a:rPr sz="4600" b="1" i="0">
                <a:solidFill>
                  <a:srgbClr val="FFFFFF"/>
                </a:solidFill>
                <a:latin typeface="Cambria"/>
              </a:rPr>
              <a:t>Predicting Used-Car Prices in Sri Lanka</a:t>
            </a:r>
          </a:p>
        </p:txBody>
      </p:sp>
      <p:sp>
        <p:nvSpPr>
          <p:cNvPr id="3" name="TextBox 2"/>
          <p:cNvSpPr txBox="1"/>
          <p:nvPr/>
        </p:nvSpPr>
        <p:spPr>
          <a:xfrm>
            <a:off x="731520" y="3474720"/>
            <a:ext cx="6583680" cy="822960"/>
          </a:xfrm>
          <a:prstGeom prst="rect">
            <a:avLst/>
          </a:prstGeom>
          <a:noFill/>
        </p:spPr>
        <p:txBody>
          <a:bodyPr wrap="square" lIns="0" rIns="0" tIns="0" bIns="0" anchor="t">
            <a:spAutoFit/>
          </a:bodyPr>
          <a:lstStyle/>
          <a:p>
            <a:pPr algn="l"/>
            <a:r>
              <a:rPr sz="2000" b="0" i="0">
                <a:solidFill>
                  <a:srgbClr val="BFD7EA"/>
                </a:solidFill>
                <a:latin typeface="Calibri"/>
              </a:rPr>
              <a:t>Tuned boosting and stacking ensembles, explained with SHAP and LIME</a:t>
            </a:r>
          </a:p>
        </p:txBody>
      </p:sp>
      <p:sp>
        <p:nvSpPr>
          <p:cNvPr id="4" name="TextBox 3"/>
          <p:cNvSpPr txBox="1"/>
          <p:nvPr/>
        </p:nvSpPr>
        <p:spPr>
          <a:xfrm>
            <a:off x="731520" y="5029200"/>
            <a:ext cx="6858000" cy="365760"/>
          </a:xfrm>
          <a:prstGeom prst="rect">
            <a:avLst/>
          </a:prstGeom>
          <a:noFill/>
        </p:spPr>
        <p:txBody>
          <a:bodyPr wrap="square" lIns="0" rIns="0" tIns="0" bIns="0" anchor="t">
            <a:spAutoFit/>
          </a:bodyPr>
          <a:lstStyle/>
          <a:p>
            <a:pPr algn="l"/>
            <a:r>
              <a:rPr sz="1600" b="1" i="0">
                <a:solidFill>
                  <a:srgbClr val="FFFFFF"/>
                </a:solidFill>
                <a:latin typeface="Calibri"/>
              </a:rPr>
              <a:t>Lakshan B.D.  ·  Index 269136C  ·  Applied Machine Learning</a:t>
            </a:r>
          </a:p>
        </p:txBody>
      </p:sp>
      <p:sp>
        <p:nvSpPr>
          <p:cNvPr id="5" name="TextBox 4"/>
          <p:cNvSpPr txBox="1"/>
          <p:nvPr/>
        </p:nvSpPr>
        <p:spPr>
          <a:xfrm>
            <a:off x="731520" y="5440680"/>
            <a:ext cx="6858000" cy="365760"/>
          </a:xfrm>
          <a:prstGeom prst="rect">
            <a:avLst/>
          </a:prstGeom>
          <a:noFill/>
        </p:spPr>
        <p:txBody>
          <a:bodyPr wrap="square" lIns="0" rIns="0" tIns="0" bIns="0" anchor="t">
            <a:spAutoFit/>
          </a:bodyPr>
          <a:lstStyle/>
          <a:p>
            <a:pPr algn="l"/>
            <a:r>
              <a:rPr sz="1400" b="0" i="0">
                <a:solidFill>
                  <a:srgbClr val="BFD7EA"/>
                </a:solidFill>
                <a:latin typeface="Calibri"/>
              </a:rPr>
              <a:t>github.com/crazy-diya/ML_Assignment-269136C</a:t>
            </a:r>
          </a:p>
        </p:txBody>
      </p:sp>
      <p:sp>
        <p:nvSpPr>
          <p:cNvPr id="6" name="TextBox 5"/>
          <p:cNvSpPr txBox="1"/>
          <p:nvPr/>
        </p:nvSpPr>
        <p:spPr>
          <a:xfrm>
            <a:off x="731520" y="5806440"/>
            <a:ext cx="10515600" cy="365760"/>
          </a:xfrm>
          <a:prstGeom prst="rect">
            <a:avLst/>
          </a:prstGeom>
          <a:noFill/>
        </p:spPr>
        <p:txBody>
          <a:bodyPr wrap="square" lIns="0" rIns="0" tIns="0" bIns="0" anchor="t">
            <a:spAutoFit/>
          </a:bodyPr>
          <a:lstStyle/>
          <a:p>
            <a:pPr algn="l"/>
            <a:r>
              <a:rPr sz="1400" b="0" i="0">
                <a:solidFill>
                  <a:srgbClr val="F4A83A"/>
                </a:solidFill>
                <a:latin typeface="Calibri"/>
              </a:rPr>
              <a:t>Live demo: https://crazy-diya-ml-assignment-269136c-app-8yzt7l.streamlit.app/</a:t>
            </a:r>
          </a:p>
        </p:txBody>
      </p:sp>
      <p:sp>
        <p:nvSpPr>
          <p:cNvPr id="7" name="Headline stat"/>
          <p:cNvSpPr/>
          <p:nvPr/>
        </p:nvSpPr>
        <p:spPr>
          <a:xfrm>
            <a:off x="8229600" y="1554480"/>
            <a:ext cx="3200400" cy="3200400"/>
          </a:xfrm>
          <a:prstGeom prst="ellipse">
            <a:avLst/>
          </a:prstGeom>
          <a:solidFill>
            <a:srgbClr val="F4A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2240280"/>
            <a:ext cx="3200400" cy="1097280"/>
          </a:xfrm>
          <a:prstGeom prst="rect">
            <a:avLst/>
          </a:prstGeom>
          <a:noFill/>
        </p:spPr>
        <p:txBody>
          <a:bodyPr wrap="square" lIns="0" rIns="0" tIns="0" bIns="0" anchor="ctr">
            <a:spAutoFit/>
          </a:bodyPr>
          <a:lstStyle/>
          <a:p>
            <a:pPr algn="ctr"/>
            <a:r>
              <a:rPr sz="5400" b="1" i="0">
                <a:solidFill>
                  <a:srgbClr val="0F2A43"/>
                </a:solidFill>
                <a:latin typeface="Cambria"/>
              </a:rPr>
              <a:t>12.6%</a:t>
            </a:r>
          </a:p>
        </p:txBody>
      </p:sp>
      <p:sp>
        <p:nvSpPr>
          <p:cNvPr id="9" name="TextBox 8"/>
          <p:cNvSpPr txBox="1"/>
          <p:nvPr/>
        </p:nvSpPr>
        <p:spPr>
          <a:xfrm>
            <a:off x="8503920" y="3383280"/>
            <a:ext cx="2651760" cy="822960"/>
          </a:xfrm>
          <a:prstGeom prst="rect">
            <a:avLst/>
          </a:prstGeom>
          <a:noFill/>
        </p:spPr>
        <p:txBody>
          <a:bodyPr wrap="square" lIns="0" rIns="0" tIns="0" bIns="0" anchor="t">
            <a:spAutoFit/>
          </a:bodyPr>
          <a:lstStyle/>
          <a:p>
            <a:pPr algn="ctr"/>
            <a:r>
              <a:rPr sz="1600" b="0" i="0">
                <a:solidFill>
                  <a:srgbClr val="0F2A43"/>
                </a:solidFill>
                <a:latin typeface="Calibri"/>
              </a:rPr>
              <a:t>average price error on unseen cars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A local problem: nobody knows what a used car is worth</a:t>
            </a:r>
          </a:p>
        </p:txBody>
      </p:sp>
      <p:sp>
        <p:nvSpPr>
          <p:cNvPr id="3" name="Card 1"/>
          <p:cNvSpPr/>
          <p:nvPr/>
        </p:nvSpPr>
        <p:spPr>
          <a:xfrm>
            <a:off x="548640" y="1600200"/>
            <a:ext cx="6766560" cy="137160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 y="1965960"/>
            <a:ext cx="640080" cy="640080"/>
          </a:xfrm>
          <a:prstGeom prst="ellipse">
            <a:avLst/>
          </a:prstGeom>
          <a:solidFill>
            <a:srgbClr val="F4A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2A43"/>
                </a:solidFill>
                <a:latin typeface="Cambria"/>
              </a:rPr>
              <a:t>1</a:t>
            </a:r>
          </a:p>
        </p:txBody>
      </p:sp>
      <p:sp>
        <p:nvSpPr>
          <p:cNvPr id="5" name="TextBox 4"/>
          <p:cNvSpPr txBox="1"/>
          <p:nvPr/>
        </p:nvSpPr>
        <p:spPr>
          <a:xfrm>
            <a:off x="1691640" y="1783080"/>
            <a:ext cx="5394960" cy="411480"/>
          </a:xfrm>
          <a:prstGeom prst="rect">
            <a:avLst/>
          </a:prstGeom>
          <a:noFill/>
        </p:spPr>
        <p:txBody>
          <a:bodyPr wrap="square" lIns="0" rIns="0" tIns="0" bIns="0" anchor="t">
            <a:spAutoFit/>
          </a:bodyPr>
          <a:lstStyle/>
          <a:p>
            <a:pPr algn="l"/>
            <a:r>
              <a:rPr sz="2000" b="1" i="0">
                <a:solidFill>
                  <a:srgbClr val="0F2A43"/>
                </a:solidFill>
                <a:latin typeface="Calibri"/>
              </a:rPr>
              <a:t>Imports restricted since 2020</a:t>
            </a:r>
          </a:p>
        </p:txBody>
      </p:sp>
      <p:sp>
        <p:nvSpPr>
          <p:cNvPr id="6" name="TextBox 5"/>
          <p:cNvSpPr txBox="1"/>
          <p:nvPr/>
        </p:nvSpPr>
        <p:spPr>
          <a:xfrm>
            <a:off x="1691640" y="2240280"/>
            <a:ext cx="5394960" cy="640080"/>
          </a:xfrm>
          <a:prstGeom prst="rect">
            <a:avLst/>
          </a:prstGeom>
          <a:noFill/>
        </p:spPr>
        <p:txBody>
          <a:bodyPr wrap="square" lIns="0" rIns="0" tIns="0" bIns="0" anchor="t">
            <a:spAutoFit/>
          </a:bodyPr>
          <a:lstStyle/>
          <a:p>
            <a:pPr algn="l"/>
            <a:r>
              <a:rPr sz="1500" b="0" i="0">
                <a:solidFill>
                  <a:srgbClr val="1F2933"/>
                </a:solidFill>
                <a:latin typeface="Calibri"/>
              </a:rPr>
              <a:t>Prices jumped and became opaque, so buyers cannot judge a fair price.</a:t>
            </a:r>
          </a:p>
        </p:txBody>
      </p:sp>
      <p:sp>
        <p:nvSpPr>
          <p:cNvPr id="7" name="Card 2"/>
          <p:cNvSpPr/>
          <p:nvPr/>
        </p:nvSpPr>
        <p:spPr>
          <a:xfrm>
            <a:off x="548640" y="3154680"/>
            <a:ext cx="6766560" cy="137160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3520440"/>
            <a:ext cx="640080" cy="640080"/>
          </a:xfrm>
          <a:prstGeom prst="ellipse">
            <a:avLst/>
          </a:prstGeom>
          <a:solidFill>
            <a:srgbClr val="F4A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2A43"/>
                </a:solidFill>
                <a:latin typeface="Cambria"/>
              </a:rPr>
              <a:t>2</a:t>
            </a:r>
          </a:p>
        </p:txBody>
      </p:sp>
      <p:sp>
        <p:nvSpPr>
          <p:cNvPr id="9" name="TextBox 8"/>
          <p:cNvSpPr txBox="1"/>
          <p:nvPr/>
        </p:nvSpPr>
        <p:spPr>
          <a:xfrm>
            <a:off x="1691640" y="3337560"/>
            <a:ext cx="5394960" cy="411480"/>
          </a:xfrm>
          <a:prstGeom prst="rect">
            <a:avLst/>
          </a:prstGeom>
          <a:noFill/>
        </p:spPr>
        <p:txBody>
          <a:bodyPr wrap="square" lIns="0" rIns="0" tIns="0" bIns="0" anchor="t">
            <a:spAutoFit/>
          </a:bodyPr>
          <a:lstStyle/>
          <a:p>
            <a:pPr algn="l"/>
            <a:r>
              <a:rPr sz="2000" b="1" i="0">
                <a:solidFill>
                  <a:srgbClr val="0F2A43"/>
                </a:solidFill>
                <a:latin typeface="Calibri"/>
              </a:rPr>
              <a:t>Reconditioned Japanese imports</a:t>
            </a:r>
          </a:p>
        </p:txBody>
      </p:sp>
      <p:sp>
        <p:nvSpPr>
          <p:cNvPr id="10" name="TextBox 9"/>
          <p:cNvSpPr txBox="1"/>
          <p:nvPr/>
        </p:nvSpPr>
        <p:spPr>
          <a:xfrm>
            <a:off x="1691640" y="3794760"/>
            <a:ext cx="5394960" cy="640080"/>
          </a:xfrm>
          <a:prstGeom prst="rect">
            <a:avLst/>
          </a:prstGeom>
          <a:noFill/>
        </p:spPr>
        <p:txBody>
          <a:bodyPr wrap="square" lIns="0" rIns="0" tIns="0" bIns="0" anchor="t">
            <a:spAutoFit/>
          </a:bodyPr>
          <a:lstStyle/>
          <a:p>
            <a:pPr algn="l"/>
            <a:r>
              <a:rPr sz="1500" b="0" i="0">
                <a:solidFill>
                  <a:srgbClr val="1F2933"/>
                </a:solidFill>
                <a:latin typeface="Calibri"/>
              </a:rPr>
              <a:t>A category found almost nowhere else, priced between Used and Brand New.</a:t>
            </a:r>
          </a:p>
        </p:txBody>
      </p:sp>
      <p:sp>
        <p:nvSpPr>
          <p:cNvPr id="11" name="Card 3"/>
          <p:cNvSpPr/>
          <p:nvPr/>
        </p:nvSpPr>
        <p:spPr>
          <a:xfrm>
            <a:off x="548640" y="4709160"/>
            <a:ext cx="6766560" cy="137160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5074920"/>
            <a:ext cx="640080" cy="640080"/>
          </a:xfrm>
          <a:prstGeom prst="ellipse">
            <a:avLst/>
          </a:prstGeom>
          <a:solidFill>
            <a:srgbClr val="F4A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2A43"/>
                </a:solidFill>
                <a:latin typeface="Cambria"/>
              </a:rPr>
              <a:t>3</a:t>
            </a:r>
          </a:p>
        </p:txBody>
      </p:sp>
      <p:sp>
        <p:nvSpPr>
          <p:cNvPr id="13" name="TextBox 12"/>
          <p:cNvSpPr txBox="1"/>
          <p:nvPr/>
        </p:nvSpPr>
        <p:spPr>
          <a:xfrm>
            <a:off x="1691640" y="4892040"/>
            <a:ext cx="5394960" cy="411480"/>
          </a:xfrm>
          <a:prstGeom prst="rect">
            <a:avLst/>
          </a:prstGeom>
          <a:noFill/>
        </p:spPr>
        <p:txBody>
          <a:bodyPr wrap="square" lIns="0" rIns="0" tIns="0" bIns="0" anchor="t">
            <a:spAutoFit/>
          </a:bodyPr>
          <a:lstStyle/>
          <a:p>
            <a:pPr algn="l"/>
            <a:r>
              <a:rPr sz="2000" b="1" i="0">
                <a:solidFill>
                  <a:srgbClr val="0F2A43"/>
                </a:solidFill>
                <a:latin typeface="Calibri"/>
              </a:rPr>
              <a:t>Hybrids and EVs are growing</a:t>
            </a:r>
          </a:p>
        </p:txBody>
      </p:sp>
      <p:sp>
        <p:nvSpPr>
          <p:cNvPr id="14" name="TextBox 13"/>
          <p:cNvSpPr txBox="1"/>
          <p:nvPr/>
        </p:nvSpPr>
        <p:spPr>
          <a:xfrm>
            <a:off x="1691640" y="5349240"/>
            <a:ext cx="5394960" cy="640080"/>
          </a:xfrm>
          <a:prstGeom prst="rect">
            <a:avLst/>
          </a:prstGeom>
          <a:noFill/>
        </p:spPr>
        <p:txBody>
          <a:bodyPr wrap="square" lIns="0" rIns="0" tIns="0" bIns="0" anchor="t">
            <a:spAutoFit/>
          </a:bodyPr>
          <a:lstStyle/>
          <a:p>
            <a:pPr algn="l"/>
            <a:r>
              <a:rPr sz="1500" b="0" i="0">
                <a:solidFill>
                  <a:srgbClr val="1F2933"/>
                </a:solidFill>
                <a:latin typeface="Calibri"/>
              </a:rPr>
              <a:t>Fuel-price shocks changed what a fair price looks like.</a:t>
            </a:r>
          </a:p>
        </p:txBody>
      </p:sp>
      <p:sp>
        <p:nvSpPr>
          <p:cNvPr id="15" name="Goal card"/>
          <p:cNvSpPr/>
          <p:nvPr/>
        </p:nvSpPr>
        <p:spPr>
          <a:xfrm>
            <a:off x="7680960" y="1600200"/>
            <a:ext cx="3959352" cy="4480560"/>
          </a:xfrm>
          <a:prstGeom prst="roundRect">
            <a:avLst>
              <a:gd name="adj" fmla="val 6000"/>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1874519"/>
            <a:ext cx="3383280" cy="365760"/>
          </a:xfrm>
          <a:prstGeom prst="rect">
            <a:avLst/>
          </a:prstGeom>
          <a:noFill/>
        </p:spPr>
        <p:txBody>
          <a:bodyPr wrap="square" lIns="0" rIns="0" tIns="0" bIns="0" anchor="t">
            <a:spAutoFit/>
          </a:bodyPr>
          <a:lstStyle/>
          <a:p>
            <a:pPr algn="l"/>
            <a:r>
              <a:rPr sz="1400" b="1" i="0">
                <a:solidFill>
                  <a:srgbClr val="F4A83A"/>
                </a:solidFill>
                <a:latin typeface="Calibri"/>
              </a:rPr>
              <a:t>THE GOAL</a:t>
            </a:r>
          </a:p>
        </p:txBody>
      </p:sp>
      <p:sp>
        <p:nvSpPr>
          <p:cNvPr id="17" name="TextBox 16"/>
          <p:cNvSpPr txBox="1"/>
          <p:nvPr/>
        </p:nvSpPr>
        <p:spPr>
          <a:xfrm>
            <a:off x="8001000" y="2331720"/>
            <a:ext cx="3383280" cy="1828800"/>
          </a:xfrm>
          <a:prstGeom prst="rect">
            <a:avLst/>
          </a:prstGeom>
          <a:noFill/>
        </p:spPr>
        <p:txBody>
          <a:bodyPr wrap="square" lIns="0" rIns="0" tIns="0" bIns="0" anchor="t">
            <a:spAutoFit/>
          </a:bodyPr>
          <a:lstStyle/>
          <a:p>
            <a:pPr algn="l"/>
            <a:r>
              <a:rPr sz="2400" b="1" i="0">
                <a:solidFill>
                  <a:srgbClr val="FFFFFF"/>
                </a:solidFill>
                <a:latin typeface="Cambria"/>
              </a:rPr>
              <a:t>Estimate a car's asking price in LKR from its specification</a:t>
            </a:r>
          </a:p>
        </p:txBody>
      </p:sp>
      <p:sp>
        <p:nvSpPr>
          <p:cNvPr id="18" name="TextBox 17"/>
          <p:cNvSpPr txBox="1"/>
          <p:nvPr/>
        </p:nvSpPr>
        <p:spPr>
          <a:xfrm>
            <a:off x="8001000" y="4526280"/>
            <a:ext cx="3383280" cy="1188720"/>
          </a:xfrm>
          <a:prstGeom prst="rect">
            <a:avLst/>
          </a:prstGeom>
          <a:noFill/>
        </p:spPr>
        <p:txBody>
          <a:bodyPr wrap="square" lIns="0" rIns="0" tIns="0" bIns="0" anchor="t">
            <a:spAutoFit/>
          </a:bodyPr>
          <a:lstStyle/>
          <a:p>
            <a:pPr algn="l">
              <a:spcAft>
                <a:spcPts val="400"/>
              </a:spcAft>
            </a:pPr>
            <a:r>
              <a:rPr sz="1600" b="1" i="0">
                <a:solidFill>
                  <a:srgbClr val="F4A83A"/>
                </a:solidFill>
                <a:latin typeface="Calibri"/>
              </a:rPr>
              <a:t>Regression</a:t>
            </a:r>
          </a:p>
          <a:p>
            <a:pPr algn="l">
              <a:spcAft>
                <a:spcPts val="400"/>
              </a:spcAft>
            </a:pPr>
            <a:r>
              <a:rPr sz="1600" b="0" i="0">
                <a:solidFill>
                  <a:srgbClr val="BFD7EA"/>
                </a:solidFill>
                <a:latin typeface="Calibri"/>
              </a:rPr>
              <a:t>Tabular data, local Sri Lankan dataset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Data: 3,000 live ads collected from ikman.lk</a:t>
            </a:r>
          </a:p>
        </p:txBody>
      </p:sp>
      <p:sp>
        <p:nvSpPr>
          <p:cNvPr id="3" name="Stat 1"/>
          <p:cNvSpPr/>
          <p:nvPr/>
        </p:nvSpPr>
        <p:spPr>
          <a:xfrm>
            <a:off x="548640" y="1645920"/>
            <a:ext cx="2651760" cy="20116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2651760" cy="914400"/>
          </a:xfrm>
          <a:prstGeom prst="rect">
            <a:avLst/>
          </a:prstGeom>
          <a:noFill/>
        </p:spPr>
        <p:txBody>
          <a:bodyPr wrap="square" lIns="0" rIns="0" tIns="0" bIns="0" anchor="ctr">
            <a:spAutoFit/>
          </a:bodyPr>
          <a:lstStyle/>
          <a:p>
            <a:pPr algn="ctr"/>
            <a:r>
              <a:rPr sz="4800" b="1" i="0">
                <a:solidFill>
                  <a:srgbClr val="1B7F8C"/>
                </a:solidFill>
                <a:latin typeface="Cambria"/>
              </a:rPr>
              <a:t>3,000</a:t>
            </a:r>
          </a:p>
        </p:txBody>
      </p:sp>
      <p:sp>
        <p:nvSpPr>
          <p:cNvPr id="5" name="TextBox 4"/>
          <p:cNvSpPr txBox="1"/>
          <p:nvPr/>
        </p:nvSpPr>
        <p:spPr>
          <a:xfrm>
            <a:off x="731520" y="2834640"/>
            <a:ext cx="2286000" cy="640080"/>
          </a:xfrm>
          <a:prstGeom prst="rect">
            <a:avLst/>
          </a:prstGeom>
          <a:noFill/>
        </p:spPr>
        <p:txBody>
          <a:bodyPr wrap="square" lIns="0" rIns="0" tIns="0" bIns="0" anchor="t">
            <a:spAutoFit/>
          </a:bodyPr>
          <a:lstStyle/>
          <a:p>
            <a:pPr algn="ctr"/>
            <a:r>
              <a:rPr sz="1600" b="0" i="0">
                <a:solidFill>
                  <a:srgbClr val="1F2933"/>
                </a:solidFill>
                <a:latin typeface="Calibri"/>
              </a:rPr>
              <a:t>car advertisements</a:t>
            </a:r>
          </a:p>
        </p:txBody>
      </p:sp>
      <p:sp>
        <p:nvSpPr>
          <p:cNvPr id="6" name="Stat 2"/>
          <p:cNvSpPr/>
          <p:nvPr/>
        </p:nvSpPr>
        <p:spPr>
          <a:xfrm>
            <a:off x="3383280" y="1645920"/>
            <a:ext cx="2651760" cy="20116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0" y="1828800"/>
            <a:ext cx="2651760" cy="914400"/>
          </a:xfrm>
          <a:prstGeom prst="rect">
            <a:avLst/>
          </a:prstGeom>
          <a:noFill/>
        </p:spPr>
        <p:txBody>
          <a:bodyPr wrap="square" lIns="0" rIns="0" tIns="0" bIns="0" anchor="ctr">
            <a:spAutoFit/>
          </a:bodyPr>
          <a:lstStyle/>
          <a:p>
            <a:pPr algn="ctr"/>
            <a:r>
              <a:rPr sz="4800" b="1" i="0">
                <a:solidFill>
                  <a:srgbClr val="1B7F8C"/>
                </a:solidFill>
                <a:latin typeface="Cambria"/>
              </a:rPr>
              <a:t>10</a:t>
            </a:r>
          </a:p>
        </p:txBody>
      </p:sp>
      <p:sp>
        <p:nvSpPr>
          <p:cNvPr id="8" name="TextBox 7"/>
          <p:cNvSpPr txBox="1"/>
          <p:nvPr/>
        </p:nvSpPr>
        <p:spPr>
          <a:xfrm>
            <a:off x="3566160" y="2834640"/>
            <a:ext cx="2286000" cy="640080"/>
          </a:xfrm>
          <a:prstGeom prst="rect">
            <a:avLst/>
          </a:prstGeom>
          <a:noFill/>
        </p:spPr>
        <p:txBody>
          <a:bodyPr wrap="square" lIns="0" rIns="0" tIns="0" bIns="0" anchor="t">
            <a:spAutoFit/>
          </a:bodyPr>
          <a:lstStyle/>
          <a:p>
            <a:pPr algn="ctr"/>
            <a:r>
              <a:rPr sz="1600" b="0" i="0">
                <a:solidFill>
                  <a:srgbClr val="1F2933"/>
                </a:solidFill>
                <a:latin typeface="Calibri"/>
              </a:rPr>
              <a:t>features per car</a:t>
            </a:r>
          </a:p>
        </p:txBody>
      </p:sp>
      <p:sp>
        <p:nvSpPr>
          <p:cNvPr id="9" name="Stat 3"/>
          <p:cNvSpPr/>
          <p:nvPr/>
        </p:nvSpPr>
        <p:spPr>
          <a:xfrm>
            <a:off x="6217920" y="1645920"/>
            <a:ext cx="2651760" cy="20116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828800"/>
            <a:ext cx="2651760" cy="914400"/>
          </a:xfrm>
          <a:prstGeom prst="rect">
            <a:avLst/>
          </a:prstGeom>
          <a:noFill/>
        </p:spPr>
        <p:txBody>
          <a:bodyPr wrap="square" lIns="0" rIns="0" tIns="0" bIns="0" anchor="ctr">
            <a:spAutoFit/>
          </a:bodyPr>
          <a:lstStyle/>
          <a:p>
            <a:pPr algn="ctr"/>
            <a:r>
              <a:rPr sz="4800" b="1" i="0">
                <a:solidFill>
                  <a:srgbClr val="1B7F8C"/>
                </a:solidFill>
                <a:latin typeface="Cambria"/>
              </a:rPr>
              <a:t>351</a:t>
            </a:r>
          </a:p>
        </p:txBody>
      </p:sp>
      <p:sp>
        <p:nvSpPr>
          <p:cNvPr id="11" name="TextBox 10"/>
          <p:cNvSpPr txBox="1"/>
          <p:nvPr/>
        </p:nvSpPr>
        <p:spPr>
          <a:xfrm>
            <a:off x="6400800" y="2834640"/>
            <a:ext cx="2286000" cy="640080"/>
          </a:xfrm>
          <a:prstGeom prst="rect">
            <a:avLst/>
          </a:prstGeom>
          <a:noFill/>
        </p:spPr>
        <p:txBody>
          <a:bodyPr wrap="square" lIns="0" rIns="0" tIns="0" bIns="0" anchor="t">
            <a:spAutoFit/>
          </a:bodyPr>
          <a:lstStyle/>
          <a:p>
            <a:pPr algn="ctr"/>
            <a:r>
              <a:rPr sz="1600" b="0" i="0">
                <a:solidFill>
                  <a:srgbClr val="1F2933"/>
                </a:solidFill>
                <a:latin typeface="Calibri"/>
              </a:rPr>
              <a:t>distinct car models</a:t>
            </a:r>
          </a:p>
        </p:txBody>
      </p:sp>
      <p:sp>
        <p:nvSpPr>
          <p:cNvPr id="12" name="Stat 4"/>
          <p:cNvSpPr/>
          <p:nvPr/>
        </p:nvSpPr>
        <p:spPr>
          <a:xfrm>
            <a:off x="9052560" y="1645920"/>
            <a:ext cx="2651760" cy="20116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1828800"/>
            <a:ext cx="2651760" cy="914400"/>
          </a:xfrm>
          <a:prstGeom prst="rect">
            <a:avLst/>
          </a:prstGeom>
          <a:noFill/>
        </p:spPr>
        <p:txBody>
          <a:bodyPr wrap="square" lIns="0" rIns="0" tIns="0" bIns="0" anchor="ctr">
            <a:spAutoFit/>
          </a:bodyPr>
          <a:lstStyle/>
          <a:p>
            <a:pPr algn="ctr"/>
            <a:r>
              <a:rPr sz="4800" b="1" i="0">
                <a:solidFill>
                  <a:srgbClr val="1B7F8C"/>
                </a:solidFill>
                <a:latin typeface="Cambria"/>
              </a:rPr>
              <a:t>163</a:t>
            </a:r>
          </a:p>
        </p:txBody>
      </p:sp>
      <p:sp>
        <p:nvSpPr>
          <p:cNvPr id="14" name="TextBox 13"/>
          <p:cNvSpPr txBox="1"/>
          <p:nvPr/>
        </p:nvSpPr>
        <p:spPr>
          <a:xfrm>
            <a:off x="9235440" y="2834640"/>
            <a:ext cx="2286000" cy="640080"/>
          </a:xfrm>
          <a:prstGeom prst="rect">
            <a:avLst/>
          </a:prstGeom>
          <a:noFill/>
        </p:spPr>
        <p:txBody>
          <a:bodyPr wrap="square" lIns="0" rIns="0" tIns="0" bIns="0" anchor="t">
            <a:spAutoFit/>
          </a:bodyPr>
          <a:lstStyle/>
          <a:p>
            <a:pPr algn="ctr"/>
            <a:r>
              <a:rPr sz="1600" b="0" i="0">
                <a:solidFill>
                  <a:srgbClr val="1F2933"/>
                </a:solidFill>
                <a:latin typeface="Calibri"/>
              </a:rPr>
              <a:t>locations</a:t>
            </a:r>
          </a:p>
        </p:txBody>
      </p:sp>
      <p:sp>
        <p:nvSpPr>
          <p:cNvPr id="15" name="Collection card"/>
          <p:cNvSpPr/>
          <p:nvPr/>
        </p:nvSpPr>
        <p:spPr>
          <a:xfrm>
            <a:off x="548640" y="4023360"/>
            <a:ext cx="5486400" cy="210312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206240"/>
            <a:ext cx="4937760" cy="365760"/>
          </a:xfrm>
          <a:prstGeom prst="rect">
            <a:avLst/>
          </a:prstGeom>
          <a:noFill/>
        </p:spPr>
        <p:txBody>
          <a:bodyPr wrap="square" lIns="0" rIns="0" tIns="0" bIns="0" anchor="t">
            <a:spAutoFit/>
          </a:bodyPr>
          <a:lstStyle/>
          <a:p>
            <a:pPr algn="l"/>
            <a:r>
              <a:rPr sz="1800" b="1" i="0">
                <a:solidFill>
                  <a:srgbClr val="0F2A43"/>
                </a:solidFill>
                <a:latin typeface="Calibri"/>
              </a:rPr>
              <a:t>How it was collected</a:t>
            </a:r>
          </a:p>
        </p:txBody>
      </p:sp>
      <p:sp>
        <p:nvSpPr>
          <p:cNvPr id="17" name="TextBox 16"/>
          <p:cNvSpPr txBox="1"/>
          <p:nvPr/>
        </p:nvSpPr>
        <p:spPr>
          <a:xfrm>
            <a:off x="822960" y="4663440"/>
            <a:ext cx="4937760" cy="1371600"/>
          </a:xfrm>
          <a:prstGeom prst="rect">
            <a:avLst/>
          </a:prstGeom>
          <a:noFill/>
        </p:spPr>
        <p:txBody>
          <a:bodyPr wrap="square" lIns="0" rIns="0" tIns="0" bIns="0" anchor="t">
            <a:spAutoFit/>
          </a:bodyPr>
          <a:lstStyle/>
          <a:p>
            <a:pPr algn="l">
              <a:spcAft>
                <a:spcPts val="400"/>
              </a:spcAft>
            </a:pPr>
            <a:r>
              <a:rPr sz="1500" b="0" i="0">
                <a:solidFill>
                  <a:srgbClr val="1F2933"/>
                </a:solidFill>
                <a:latin typeface="Calibri"/>
              </a:rPr>
              <a:t>Own Python scraper, so the data is new and local</a:t>
            </a:r>
          </a:p>
          <a:p>
            <a:pPr algn="l">
              <a:spcAft>
                <a:spcPts val="400"/>
              </a:spcAft>
            </a:pPr>
            <a:r>
              <a:rPr sz="1500" b="0" i="0">
                <a:solidFill>
                  <a:srgbClr val="1F2933"/>
                </a:solidFill>
                <a:latin typeface="Calibri"/>
              </a:rPr>
              <a:t>robots.txt respected, 1.5 s delay between requests</a:t>
            </a:r>
          </a:p>
          <a:p>
            <a:pPr algn="l">
              <a:spcAft>
                <a:spcPts val="400"/>
              </a:spcAft>
            </a:pPr>
            <a:r>
              <a:rPr sz="1500" b="0" i="0">
                <a:solidFill>
                  <a:srgbClr val="1F2933"/>
                </a:solidFill>
                <a:latin typeface="Calibri"/>
              </a:rPr>
              <a:t>Resumable, with retries on timeouts</a:t>
            </a:r>
          </a:p>
        </p:txBody>
      </p:sp>
      <p:sp>
        <p:nvSpPr>
          <p:cNvPr id="18" name="Target card"/>
          <p:cNvSpPr/>
          <p:nvPr/>
        </p:nvSpPr>
        <p:spPr>
          <a:xfrm>
            <a:off x="6217920" y="4023360"/>
            <a:ext cx="5422392" cy="210312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206240"/>
            <a:ext cx="4846320" cy="365760"/>
          </a:xfrm>
          <a:prstGeom prst="rect">
            <a:avLst/>
          </a:prstGeom>
          <a:noFill/>
        </p:spPr>
        <p:txBody>
          <a:bodyPr wrap="square" lIns="0" rIns="0" tIns="0" bIns="0" anchor="t">
            <a:spAutoFit/>
          </a:bodyPr>
          <a:lstStyle/>
          <a:p>
            <a:pPr algn="l"/>
            <a:r>
              <a:rPr sz="1800" b="1" i="0">
                <a:solidFill>
                  <a:srgbClr val="0F2A43"/>
                </a:solidFill>
                <a:latin typeface="Calibri"/>
              </a:rPr>
              <a:t>What is predicted</a:t>
            </a:r>
          </a:p>
        </p:txBody>
      </p:sp>
      <p:sp>
        <p:nvSpPr>
          <p:cNvPr id="20" name="TextBox 19"/>
          <p:cNvSpPr txBox="1"/>
          <p:nvPr/>
        </p:nvSpPr>
        <p:spPr>
          <a:xfrm>
            <a:off x="6492240" y="4663440"/>
            <a:ext cx="4846320" cy="1371600"/>
          </a:xfrm>
          <a:prstGeom prst="rect">
            <a:avLst/>
          </a:prstGeom>
          <a:noFill/>
        </p:spPr>
        <p:txBody>
          <a:bodyPr wrap="square" lIns="0" rIns="0" tIns="0" bIns="0" anchor="t">
            <a:spAutoFit/>
          </a:bodyPr>
          <a:lstStyle/>
          <a:p>
            <a:pPr algn="l">
              <a:spcAft>
                <a:spcPts val="400"/>
              </a:spcAft>
            </a:pPr>
            <a:r>
              <a:rPr sz="1500" b="0" i="0">
                <a:solidFill>
                  <a:srgbClr val="1F2933"/>
                </a:solidFill>
                <a:latin typeface="Calibri"/>
              </a:rPr>
              <a:t>Target: asking price in LKR</a:t>
            </a:r>
          </a:p>
          <a:p>
            <a:pPr algn="l">
              <a:spcAft>
                <a:spcPts val="400"/>
              </a:spcAft>
            </a:pPr>
            <a:r>
              <a:rPr sz="1500" b="0" i="0">
                <a:solidFill>
                  <a:srgbClr val="1F2933"/>
                </a:solidFill>
                <a:latin typeface="Calibri"/>
              </a:rPr>
              <a:t>Inputs: brand, model, year, condition, fuel, transmission, body, engine, mileage, location</a:t>
            </a:r>
          </a:p>
          <a:p>
            <a:pPr algn="l">
              <a:spcAft>
                <a:spcPts val="400"/>
              </a:spcAft>
            </a:pPr>
            <a:r>
              <a:rPr sz="1500" b="0" i="0">
                <a:solidFill>
                  <a:srgbClr val="5B6B7A"/>
                </a:solidFill>
                <a:latin typeface="Calibri"/>
              </a:rPr>
              <a:t>Limit: asking price, not final sale price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What the data looked like</a:t>
            </a:r>
          </a:p>
        </p:txBody>
      </p:sp>
      <p:sp>
        <p:nvSpPr>
          <p:cNvPr id="3" name="Chart card"/>
          <p:cNvSpPr/>
          <p:nvPr/>
        </p:nvSpPr>
        <p:spPr>
          <a:xfrm>
            <a:off x="548640" y="1371600"/>
            <a:ext cx="11091672" cy="278892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rice distribution: raw price is skewed, log price is symmetric" descr="Price distribution: raw price is skewed, log price is symmetric"/>
          <p:cNvPicPr>
            <a:picLocks noChangeAspect="1"/>
          </p:cNvPicPr>
          <p:nvPr/>
        </p:nvPicPr>
        <p:blipFill>
          <a:blip r:embed="rId2"/>
          <a:stretch>
            <a:fillRect/>
          </a:stretch>
        </p:blipFill>
        <p:spPr>
          <a:xfrm>
            <a:off x="685800" y="1463040"/>
            <a:ext cx="10817352" cy="2595136"/>
          </a:xfrm>
          <a:prstGeom prst="rect">
            <a:avLst/>
          </a:prstGeom>
        </p:spPr>
      </p:pic>
      <p:sp>
        <p:nvSpPr>
          <p:cNvPr id="5" name="Finding 1"/>
          <p:cNvSpPr/>
          <p:nvPr/>
        </p:nvSpPr>
        <p:spPr>
          <a:xfrm>
            <a:off x="548640" y="4389120"/>
            <a:ext cx="3593592" cy="17830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526280"/>
            <a:ext cx="3154680" cy="365760"/>
          </a:xfrm>
          <a:prstGeom prst="rect">
            <a:avLst/>
          </a:prstGeom>
          <a:noFill/>
        </p:spPr>
        <p:txBody>
          <a:bodyPr wrap="square" lIns="0" rIns="0" tIns="0" bIns="0" anchor="t">
            <a:spAutoFit/>
          </a:bodyPr>
          <a:lstStyle/>
          <a:p>
            <a:pPr algn="l"/>
            <a:r>
              <a:rPr sz="1800" b="1" i="0">
                <a:solidFill>
                  <a:srgbClr val="1B7F8C"/>
                </a:solidFill>
                <a:latin typeface="Calibri"/>
              </a:rPr>
              <a:t>Skewed price</a:t>
            </a:r>
          </a:p>
        </p:txBody>
      </p:sp>
      <p:sp>
        <p:nvSpPr>
          <p:cNvPr id="7" name="TextBox 6"/>
          <p:cNvSpPr txBox="1"/>
          <p:nvPr/>
        </p:nvSpPr>
        <p:spPr>
          <a:xfrm>
            <a:off x="777240" y="4937760"/>
            <a:ext cx="3154680" cy="1188720"/>
          </a:xfrm>
          <a:prstGeom prst="rect">
            <a:avLst/>
          </a:prstGeom>
          <a:noFill/>
        </p:spPr>
        <p:txBody>
          <a:bodyPr wrap="square" lIns="0" rIns="0" tIns="0" bIns="0" anchor="t">
            <a:spAutoFit/>
          </a:bodyPr>
          <a:lstStyle/>
          <a:p>
            <a:pPr algn="l"/>
            <a:r>
              <a:rPr sz="1400" b="0" i="0">
                <a:solidFill>
                  <a:srgbClr val="1F2933"/>
                </a:solidFill>
                <a:latin typeface="Calibri"/>
              </a:rPr>
              <a:t>A few LKR 200M+ cars dominate raw rupees, so the models train on log(price).</a:t>
            </a:r>
          </a:p>
        </p:txBody>
      </p:sp>
      <p:sp>
        <p:nvSpPr>
          <p:cNvPr id="8" name="Finding 2"/>
          <p:cNvSpPr/>
          <p:nvPr/>
        </p:nvSpPr>
        <p:spPr>
          <a:xfrm>
            <a:off x="4297679" y="4389120"/>
            <a:ext cx="3593592" cy="17830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79" y="4526280"/>
            <a:ext cx="3154680" cy="365760"/>
          </a:xfrm>
          <a:prstGeom prst="rect">
            <a:avLst/>
          </a:prstGeom>
          <a:noFill/>
        </p:spPr>
        <p:txBody>
          <a:bodyPr wrap="square" lIns="0" rIns="0" tIns="0" bIns="0" anchor="t">
            <a:spAutoFit/>
          </a:bodyPr>
          <a:lstStyle/>
          <a:p>
            <a:pPr algn="l"/>
            <a:r>
              <a:rPr sz="1800" b="1" i="0">
                <a:solidFill>
                  <a:srgbClr val="1B7F8C"/>
                </a:solidFill>
                <a:latin typeface="Calibri"/>
              </a:rPr>
              <a:t>Condition and age</a:t>
            </a:r>
          </a:p>
        </p:txBody>
      </p:sp>
      <p:sp>
        <p:nvSpPr>
          <p:cNvPr id="10" name="TextBox 9"/>
          <p:cNvSpPr txBox="1"/>
          <p:nvPr/>
        </p:nvSpPr>
        <p:spPr>
          <a:xfrm>
            <a:off x="4526279" y="4937760"/>
            <a:ext cx="3154680" cy="1188720"/>
          </a:xfrm>
          <a:prstGeom prst="rect">
            <a:avLst/>
          </a:prstGeom>
          <a:noFill/>
        </p:spPr>
        <p:txBody>
          <a:bodyPr wrap="square" lIns="0" rIns="0" tIns="0" bIns="0" anchor="t">
            <a:spAutoFit/>
          </a:bodyPr>
          <a:lstStyle/>
          <a:p>
            <a:pPr algn="l"/>
            <a:r>
              <a:rPr sz="1400" b="0" i="0">
                <a:solidFill>
                  <a:srgbClr val="1F2933"/>
                </a:solidFill>
                <a:latin typeface="Calibri"/>
              </a:rPr>
              <a:t>Brand New and Import sit above Reconditioned, which sits above Used. Depreciation is non-linear.</a:t>
            </a:r>
          </a:p>
        </p:txBody>
      </p:sp>
      <p:sp>
        <p:nvSpPr>
          <p:cNvPr id="11" name="Finding 3"/>
          <p:cNvSpPr/>
          <p:nvPr/>
        </p:nvSpPr>
        <p:spPr>
          <a:xfrm>
            <a:off x="8046719" y="4389120"/>
            <a:ext cx="3593592" cy="17830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4526280"/>
            <a:ext cx="3154680" cy="365760"/>
          </a:xfrm>
          <a:prstGeom prst="rect">
            <a:avLst/>
          </a:prstGeom>
          <a:noFill/>
        </p:spPr>
        <p:txBody>
          <a:bodyPr wrap="square" lIns="0" rIns="0" tIns="0" bIns="0" anchor="t">
            <a:spAutoFit/>
          </a:bodyPr>
          <a:lstStyle/>
          <a:p>
            <a:pPr algn="l"/>
            <a:r>
              <a:rPr sz="1800" b="1" i="0">
                <a:solidFill>
                  <a:srgbClr val="1B7F8C"/>
                </a:solidFill>
                <a:latin typeface="Calibri"/>
              </a:rPr>
              <a:t>High-cardinality models</a:t>
            </a:r>
          </a:p>
        </p:txBody>
      </p:sp>
      <p:sp>
        <p:nvSpPr>
          <p:cNvPr id="13" name="TextBox 12"/>
          <p:cNvSpPr txBox="1"/>
          <p:nvPr/>
        </p:nvSpPr>
        <p:spPr>
          <a:xfrm>
            <a:off x="8275319" y="4937760"/>
            <a:ext cx="3154680" cy="1188720"/>
          </a:xfrm>
          <a:prstGeom prst="rect">
            <a:avLst/>
          </a:prstGeom>
          <a:noFill/>
        </p:spPr>
        <p:txBody>
          <a:bodyPr wrap="square" lIns="0" rIns="0" tIns="0" bIns="0" anchor="t">
            <a:spAutoFit/>
          </a:bodyPr>
          <a:lstStyle/>
          <a:p>
            <a:pPr algn="l"/>
            <a:r>
              <a:rPr sz="1400" b="0" i="0">
                <a:solidFill>
                  <a:srgbClr val="1F2933"/>
                </a:solidFill>
                <a:latin typeface="Calibri"/>
              </a:rPr>
              <a:t>351 car models make this a categorical problem, which suits CatBoost.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Cleaning real, messy data with local knowledge</a:t>
            </a:r>
          </a:p>
        </p:txBody>
      </p:sp>
      <p:graphicFrame>
        <p:nvGraphicFramePr>
          <p:cNvPr id="3" name="Table 2"/>
          <p:cNvGraphicFramePr>
            <a:graphicFrameLocks noGrp="1"/>
          </p:cNvGraphicFramePr>
          <p:nvPr/>
        </p:nvGraphicFramePr>
        <p:xfrm>
          <a:off x="548640" y="1508760"/>
          <a:ext cx="11091672" cy="3566160"/>
        </p:xfrm>
        <a:graphic>
          <a:graphicData uri="http://schemas.openxmlformats.org/drawingml/2006/table">
            <a:tbl>
              <a:tblPr firstRow="0" bandRow="0">
                <a:tableStyleId>{5C22544A-7EE6-4342-B048-85BDC9FD1C3A}</a:tableStyleId>
              </a:tblPr>
              <a:tblGrid>
                <a:gridCol w="2377440"/>
                <a:gridCol w="4297680"/>
                <a:gridCol w="4416552"/>
              </a:tblGrid>
              <a:tr h="457200">
                <a:tc>
                  <a:txBody>
                    <a:bodyPr wrap="square"/>
                    <a:lstStyle/>
                    <a:p>
                      <a:r>
                        <a:rPr sz="1400" b="1">
                          <a:solidFill>
                            <a:srgbClr val="FFFFFF"/>
                          </a:solidFill>
                          <a:latin typeface="Calibri"/>
                        </a:rPr>
                        <a:t>Issue found</a:t>
                      </a:r>
                    </a:p>
                  </a:txBody>
                  <a:tcPr marL="109728" marR="109728" marT="54864" marB="54864" anchor="ctr">
                    <a:solidFill>
                      <a:srgbClr val="0F2A43"/>
                    </a:solidFill>
                  </a:tcPr>
                </a:tc>
                <a:tc>
                  <a:txBody>
                    <a:bodyPr wrap="square"/>
                    <a:lstStyle/>
                    <a:p>
                      <a:r>
                        <a:rPr sz="1400" b="1">
                          <a:solidFill>
                            <a:srgbClr val="FFFFFF"/>
                          </a:solidFill>
                          <a:latin typeface="Calibri"/>
                        </a:rPr>
                        <a:t>Examples</a:t>
                      </a:r>
                    </a:p>
                  </a:txBody>
                  <a:tcPr marL="109728" marR="109728" marT="54864" marB="54864" anchor="ctr">
                    <a:solidFill>
                      <a:srgbClr val="0F2A43"/>
                    </a:solidFill>
                  </a:tcPr>
                </a:tc>
                <a:tc>
                  <a:txBody>
                    <a:bodyPr wrap="square"/>
                    <a:lstStyle/>
                    <a:p>
                      <a:r>
                        <a:rPr sz="1400" b="1">
                          <a:solidFill>
                            <a:srgbClr val="FFFFFF"/>
                          </a:solidFill>
                          <a:latin typeface="Calibri"/>
                        </a:rPr>
                        <a:t>Decision</a:t>
                      </a:r>
                    </a:p>
                  </a:txBody>
                  <a:tcPr marL="109728" marR="109728" marT="54864" marB="54864" anchor="ctr">
                    <a:solidFill>
                      <a:srgbClr val="0F2A43"/>
                    </a:solidFill>
                  </a:tcPr>
                </a:tc>
              </a:tr>
              <a:tr h="777240">
                <a:tc>
                  <a:txBody>
                    <a:bodyPr wrap="square"/>
                    <a:lstStyle/>
                    <a:p>
                      <a:r>
                        <a:rPr sz="1400" b="1">
                          <a:solidFill>
                            <a:srgbClr val="1F2933"/>
                          </a:solidFill>
                          <a:latin typeface="Calibri"/>
                        </a:rPr>
                        <a:t>Impossible prices</a:t>
                      </a:r>
                    </a:p>
                  </a:txBody>
                  <a:tcPr marL="109728" marR="109728" marT="54864" marB="54864" anchor="ctr">
                    <a:solidFill>
                      <a:srgbClr val="FFFFFF"/>
                    </a:solidFill>
                  </a:tcPr>
                </a:tc>
                <a:tc>
                  <a:txBody>
                    <a:bodyPr wrap="square"/>
                    <a:lstStyle/>
                    <a:p>
                      <a:r>
                        <a:rPr sz="1400" b="0">
                          <a:solidFill>
                            <a:srgbClr val="1F2933"/>
                          </a:solidFill>
                          <a:latin typeface="Calibri"/>
                        </a:rPr>
                        <a:t>LKR 0, 106, 123456; a 595M BMW with a 1 cc "electric" engine</a:t>
                      </a:r>
                    </a:p>
                  </a:txBody>
                  <a:tcPr marL="109728" marR="109728" marT="54864" marB="54864" anchor="ctr">
                    <a:solidFill>
                      <a:srgbClr val="FFFFFF"/>
                    </a:solidFill>
                  </a:tcPr>
                </a:tc>
                <a:tc>
                  <a:txBody>
                    <a:bodyPr wrap="square"/>
                    <a:lstStyle/>
                    <a:p>
                      <a:r>
                        <a:rPr sz="1400" b="0">
                          <a:solidFill>
                            <a:srgbClr val="1F2933"/>
                          </a:solidFill>
                          <a:latin typeface="Calibri"/>
                        </a:rPr>
                        <a:t>Drop 14 rows: a target cannot be imputed honestly</a:t>
                      </a:r>
                    </a:p>
                  </a:txBody>
                  <a:tcPr marL="109728" marR="109728" marT="54864" marB="54864" anchor="ctr">
                    <a:solidFill>
                      <a:srgbClr val="FFFFFF"/>
                    </a:solidFill>
                  </a:tcPr>
                </a:tc>
              </a:tr>
              <a:tr h="777240">
                <a:tc>
                  <a:txBody>
                    <a:bodyPr wrap="square"/>
                    <a:lstStyle/>
                    <a:p>
                      <a:r>
                        <a:rPr sz="1400" b="1">
                          <a:solidFill>
                            <a:srgbClr val="1F2933"/>
                          </a:solidFill>
                          <a:latin typeface="Calibri"/>
                        </a:rPr>
                        <a:t>Impossible inputs</a:t>
                      </a:r>
                    </a:p>
                  </a:txBody>
                  <a:tcPr marL="109728" marR="109728" marT="54864" marB="54864" anchor="ctr">
                    <a:solidFill>
                      <a:srgbClr val="EEF2F6"/>
                    </a:solidFill>
                  </a:tcPr>
                </a:tc>
                <a:tc>
                  <a:txBody>
                    <a:bodyPr wrap="square"/>
                    <a:lstStyle/>
                    <a:p>
                      <a:r>
                        <a:rPr sz="1400" b="0">
                          <a:solidFill>
                            <a:srgbClr val="1F2933"/>
                          </a:solidFill>
                          <a:latin typeface="Calibri"/>
                        </a:rPr>
                        <a:t>Year 2027; engine under 300 cc; mileage 1, 10, 123456</a:t>
                      </a:r>
                    </a:p>
                  </a:txBody>
                  <a:tcPr marL="109728" marR="109728" marT="54864" marB="54864" anchor="ctr">
                    <a:solidFill>
                      <a:srgbClr val="EEF2F6"/>
                    </a:solidFill>
                  </a:tcPr>
                </a:tc>
                <a:tc>
                  <a:txBody>
                    <a:bodyPr wrap="square"/>
                    <a:lstStyle/>
                    <a:p>
                      <a:r>
                        <a:rPr sz="1400" b="0">
                          <a:solidFill>
                            <a:srgbClr val="1F2933"/>
                          </a:solidFill>
                          <a:latin typeface="Calibri"/>
                        </a:rPr>
                        <a:t>Set to missing, then impute: engine from the same model, mileage from the same condition</a:t>
                      </a:r>
                    </a:p>
                  </a:txBody>
                  <a:tcPr marL="109728" marR="109728" marT="54864" marB="54864" anchor="ctr">
                    <a:solidFill>
                      <a:srgbClr val="EEF2F6"/>
                    </a:solidFill>
                  </a:tcPr>
                </a:tc>
              </a:tr>
              <a:tr h="777240">
                <a:tc>
                  <a:txBody>
                    <a:bodyPr wrap="square"/>
                    <a:lstStyle/>
                    <a:p>
                      <a:r>
                        <a:rPr sz="1400" b="1">
                          <a:solidFill>
                            <a:srgbClr val="1F2933"/>
                          </a:solidFill>
                          <a:latin typeface="Calibri"/>
                        </a:rPr>
                        <a:t>EV engine is kW, not cc</a:t>
                      </a:r>
                    </a:p>
                  </a:txBody>
                  <a:tcPr marL="109728" marR="109728" marT="54864" marB="54864" anchor="ctr">
                    <a:solidFill>
                      <a:srgbClr val="FFFFFF"/>
                    </a:solidFill>
                  </a:tcPr>
                </a:tc>
                <a:tc>
                  <a:txBody>
                    <a:bodyPr wrap="square"/>
                    <a:lstStyle/>
                    <a:p>
                      <a:r>
                        <a:rPr sz="1400" b="0">
                          <a:solidFill>
                            <a:srgbClr val="1F2933"/>
                          </a:solidFill>
                          <a:latin typeface="Calibri"/>
                        </a:rPr>
                        <a:t>Electric cars list a kW rating as the engine</a:t>
                      </a:r>
                    </a:p>
                  </a:txBody>
                  <a:tcPr marL="109728" marR="109728" marT="54864" marB="54864" anchor="ctr">
                    <a:solidFill>
                      <a:srgbClr val="FFFFFF"/>
                    </a:solidFill>
                  </a:tcPr>
                </a:tc>
                <a:tc>
                  <a:txBody>
                    <a:bodyPr wrap="square"/>
                    <a:lstStyle/>
                    <a:p>
                      <a:r>
                        <a:rPr sz="1400" b="0">
                          <a:solidFill>
                            <a:srgbClr val="1F2933"/>
                          </a:solidFill>
                          <a:latin typeface="Calibri"/>
                        </a:rPr>
                        <a:t>Set to 0; fuel type carries the information</a:t>
                      </a:r>
                    </a:p>
                  </a:txBody>
                  <a:tcPr marL="109728" marR="109728" marT="54864" marB="54864" anchor="ctr">
                    <a:solidFill>
                      <a:srgbClr val="FFFFFF"/>
                    </a:solidFill>
                  </a:tcPr>
                </a:tc>
              </a:tr>
              <a:tr h="777240">
                <a:tc>
                  <a:txBody>
                    <a:bodyPr wrap="square"/>
                    <a:lstStyle/>
                    <a:p>
                      <a:r>
                        <a:rPr sz="1400" b="1">
                          <a:solidFill>
                            <a:srgbClr val="1F2933"/>
                          </a:solidFill>
                          <a:latin typeface="Calibri"/>
                        </a:rPr>
                        <a:t>Real but unusual</a:t>
                      </a:r>
                    </a:p>
                  </a:txBody>
                  <a:tcPr marL="109728" marR="109728" marT="54864" marB="54864" anchor="ctr">
                    <a:solidFill>
                      <a:srgbClr val="EEF2F6"/>
                    </a:solidFill>
                  </a:tcPr>
                </a:tc>
                <a:tc>
                  <a:txBody>
                    <a:bodyPr wrap="square"/>
                    <a:lstStyle/>
                    <a:p>
                      <a:r>
                        <a:rPr sz="1400" b="0">
                          <a:solidFill>
                            <a:srgbClr val="1F2933"/>
                          </a:solidFill>
                          <a:latin typeface="Calibri"/>
                        </a:rPr>
                        <a:t>1970s Nissan Sunny, VW Beetle; Porsche, Bentley</a:t>
                      </a:r>
                    </a:p>
                  </a:txBody>
                  <a:tcPr marL="109728" marR="109728" marT="54864" marB="54864" anchor="ctr">
                    <a:solidFill>
                      <a:srgbClr val="EEF2F6"/>
                    </a:solidFill>
                  </a:tcPr>
                </a:tc>
                <a:tc>
                  <a:txBody>
                    <a:bodyPr wrap="square"/>
                    <a:lstStyle/>
                    <a:p>
                      <a:r>
                        <a:rPr sz="1400" b="0">
                          <a:solidFill>
                            <a:srgbClr val="1F2933"/>
                          </a:solidFill>
                          <a:latin typeface="Calibri"/>
                        </a:rPr>
                        <a:t>Keep: genuine local market segments</a:t>
                      </a:r>
                    </a:p>
                  </a:txBody>
                  <a:tcPr marL="109728" marR="109728" marT="54864" marB="54864" anchor="ctr">
                    <a:solidFill>
                      <a:srgbClr val="EEF2F6"/>
                    </a:solidFill>
                  </a:tcPr>
                </a:tc>
              </a:tr>
            </a:tbl>
          </a:graphicData>
        </a:graphic>
      </p:graphicFrame>
      <p:sp>
        <p:nvSpPr>
          <p:cNvPr id="4" name="TextBox 3"/>
          <p:cNvSpPr txBox="1"/>
          <p:nvPr/>
        </p:nvSpPr>
        <p:spPr>
          <a:xfrm>
            <a:off x="548640" y="5303520"/>
            <a:ext cx="11091672" cy="822960"/>
          </a:xfrm>
          <a:prstGeom prst="rect">
            <a:avLst/>
          </a:prstGeom>
          <a:noFill/>
        </p:spPr>
        <p:txBody>
          <a:bodyPr wrap="square" lIns="0" rIns="0" tIns="0" bIns="0" anchor="t">
            <a:spAutoFit/>
          </a:bodyPr>
          <a:lstStyle/>
          <a:p>
            <a:pPr algn="l"/>
            <a:r>
              <a:rPr sz="1400" b="0" i="0">
                <a:solidFill>
                  <a:srgbClr val="5B6B7A"/>
                </a:solidFill>
                <a:latin typeface="Calibri"/>
              </a:rPr>
              <a:t>Also: age and km-per-year engineered · rare models and locations grouped as "Other" · ordinal, one-hot and native categorical encoding · numeric scaling · all steps fitted on training data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Models and tuning: no default parameters</a:t>
            </a:r>
          </a:p>
        </p:txBody>
      </p:sp>
      <p:sp>
        <p:nvSpPr>
          <p:cNvPr id="3" name="Column 1"/>
          <p:cNvSpPr/>
          <p:nvPr/>
        </p:nvSpPr>
        <p:spPr>
          <a:xfrm>
            <a:off x="548640" y="1508760"/>
            <a:ext cx="3593592" cy="310896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lumn head 1"/>
          <p:cNvSpPr/>
          <p:nvPr/>
        </p:nvSpPr>
        <p:spPr>
          <a:xfrm>
            <a:off x="548640" y="1508760"/>
            <a:ext cx="3593592" cy="868680"/>
          </a:xfrm>
          <a:prstGeom prst="roundRect">
            <a:avLst>
              <a:gd name="adj" fmla="val 6000"/>
            </a:avLst>
          </a:prstGeom>
          <a:solidFill>
            <a:srgbClr val="9CA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3154680" cy="411480"/>
          </a:xfrm>
          <a:prstGeom prst="rect">
            <a:avLst/>
          </a:prstGeom>
          <a:noFill/>
        </p:spPr>
        <p:txBody>
          <a:bodyPr wrap="square" lIns="0" rIns="0" tIns="0" bIns="0" anchor="t">
            <a:spAutoFit/>
          </a:bodyPr>
          <a:lstStyle/>
          <a:p>
            <a:pPr algn="l"/>
            <a:r>
              <a:rPr sz="2000" b="1" i="0">
                <a:solidFill>
                  <a:srgbClr val="FFFFFF"/>
                </a:solidFill>
                <a:latin typeface="Calibri"/>
              </a:rPr>
              <a:t>Baselines</a:t>
            </a:r>
          </a:p>
        </p:txBody>
      </p:sp>
      <p:sp>
        <p:nvSpPr>
          <p:cNvPr id="6" name="TextBox 5"/>
          <p:cNvSpPr txBox="1"/>
          <p:nvPr/>
        </p:nvSpPr>
        <p:spPr>
          <a:xfrm>
            <a:off x="777240" y="2011680"/>
            <a:ext cx="3154680" cy="320040"/>
          </a:xfrm>
          <a:prstGeom prst="rect">
            <a:avLst/>
          </a:prstGeom>
          <a:noFill/>
        </p:spPr>
        <p:txBody>
          <a:bodyPr wrap="square" lIns="0" rIns="0" tIns="0" bIns="0" anchor="t">
            <a:spAutoFit/>
          </a:bodyPr>
          <a:lstStyle/>
          <a:p>
            <a:pPr algn="l"/>
            <a:r>
              <a:rPr sz="1400" b="0" i="0">
                <a:solidFill>
                  <a:srgbClr val="FFFFFF"/>
                </a:solidFill>
                <a:latin typeface="Calibri"/>
              </a:rPr>
              <a:t>existing approaches</a:t>
            </a:r>
          </a:p>
        </p:txBody>
      </p:sp>
      <p:sp>
        <p:nvSpPr>
          <p:cNvPr id="7" name="TextBox 6"/>
          <p:cNvSpPr txBox="1"/>
          <p:nvPr/>
        </p:nvSpPr>
        <p:spPr>
          <a:xfrm>
            <a:off x="777240" y="2560320"/>
            <a:ext cx="3154680" cy="2011680"/>
          </a:xfrm>
          <a:prstGeom prst="rect">
            <a:avLst/>
          </a:prstGeom>
          <a:noFill/>
        </p:spPr>
        <p:txBody>
          <a:bodyPr wrap="square" lIns="0" rIns="0" tIns="0" bIns="0" anchor="t">
            <a:spAutoFit/>
          </a:bodyPr>
          <a:lstStyle/>
          <a:p>
            <a:pPr algn="l">
              <a:spcAft>
                <a:spcPts val="500"/>
              </a:spcAft>
            </a:pPr>
            <a:r>
              <a:rPr sz="1600" b="0" i="0">
                <a:solidFill>
                  <a:srgbClr val="1F2933"/>
                </a:solidFill>
                <a:latin typeface="Calibri"/>
              </a:rPr>
              <a:t>Ridge regression</a:t>
            </a:r>
          </a:p>
          <a:p>
            <a:pPr algn="l">
              <a:spcAft>
                <a:spcPts val="500"/>
              </a:spcAft>
            </a:pPr>
            <a:r>
              <a:rPr sz="1600" b="0" i="0">
                <a:solidFill>
                  <a:srgbClr val="1F2933"/>
                </a:solidFill>
                <a:latin typeface="Calibri"/>
              </a:rPr>
              <a:t>Decision tree</a:t>
            </a:r>
          </a:p>
        </p:txBody>
      </p:sp>
      <p:sp>
        <p:nvSpPr>
          <p:cNvPr id="8" name="Column 2"/>
          <p:cNvSpPr/>
          <p:nvPr/>
        </p:nvSpPr>
        <p:spPr>
          <a:xfrm>
            <a:off x="4297679" y="1508760"/>
            <a:ext cx="3593592" cy="310896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olumn head 2"/>
          <p:cNvSpPr/>
          <p:nvPr/>
        </p:nvSpPr>
        <p:spPr>
          <a:xfrm>
            <a:off x="4297679" y="1508760"/>
            <a:ext cx="3593592" cy="868680"/>
          </a:xfrm>
          <a:prstGeom prst="roundRect">
            <a:avLst>
              <a:gd name="adj" fmla="val 6000"/>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572768"/>
            <a:ext cx="3154680" cy="411480"/>
          </a:xfrm>
          <a:prstGeom prst="rect">
            <a:avLst/>
          </a:prstGeom>
          <a:noFill/>
        </p:spPr>
        <p:txBody>
          <a:bodyPr wrap="square" lIns="0" rIns="0" tIns="0" bIns="0" anchor="t">
            <a:spAutoFit/>
          </a:bodyPr>
          <a:lstStyle/>
          <a:p>
            <a:pPr algn="l"/>
            <a:r>
              <a:rPr sz="2000" b="1" i="0">
                <a:solidFill>
                  <a:srgbClr val="FFFFFF"/>
                </a:solidFill>
                <a:latin typeface="Calibri"/>
              </a:rPr>
              <a:t>Tuned single models</a:t>
            </a:r>
          </a:p>
        </p:txBody>
      </p:sp>
      <p:sp>
        <p:nvSpPr>
          <p:cNvPr id="11" name="TextBox 10"/>
          <p:cNvSpPr txBox="1"/>
          <p:nvPr/>
        </p:nvSpPr>
        <p:spPr>
          <a:xfrm>
            <a:off x="4526279" y="2011680"/>
            <a:ext cx="3154680" cy="320040"/>
          </a:xfrm>
          <a:prstGeom prst="rect">
            <a:avLst/>
          </a:prstGeom>
          <a:noFill/>
        </p:spPr>
        <p:txBody>
          <a:bodyPr wrap="square" lIns="0" rIns="0" tIns="0" bIns="0" anchor="t">
            <a:spAutoFit/>
          </a:bodyPr>
          <a:lstStyle/>
          <a:p>
            <a:pPr algn="l"/>
            <a:r>
              <a:rPr sz="1400" b="0" i="0">
                <a:solidFill>
                  <a:srgbClr val="FFFFFF"/>
                </a:solidFill>
                <a:latin typeface="Calibri"/>
              </a:rPr>
              <a:t>5-fold randomised search</a:t>
            </a:r>
          </a:p>
        </p:txBody>
      </p:sp>
      <p:sp>
        <p:nvSpPr>
          <p:cNvPr id="12" name="TextBox 11"/>
          <p:cNvSpPr txBox="1"/>
          <p:nvPr/>
        </p:nvSpPr>
        <p:spPr>
          <a:xfrm>
            <a:off x="4526279" y="2560320"/>
            <a:ext cx="3154680" cy="2011680"/>
          </a:xfrm>
          <a:prstGeom prst="rect">
            <a:avLst/>
          </a:prstGeom>
          <a:noFill/>
        </p:spPr>
        <p:txBody>
          <a:bodyPr wrap="square" lIns="0" rIns="0" tIns="0" bIns="0" anchor="t">
            <a:spAutoFit/>
          </a:bodyPr>
          <a:lstStyle/>
          <a:p>
            <a:pPr algn="l">
              <a:spcAft>
                <a:spcPts val="500"/>
              </a:spcAft>
            </a:pPr>
            <a:r>
              <a:rPr sz="1600" b="0" i="0">
                <a:solidFill>
                  <a:srgbClr val="1F2933"/>
                </a:solidFill>
                <a:latin typeface="Calibri"/>
              </a:rPr>
              <a:t>Random Forest</a:t>
            </a:r>
          </a:p>
          <a:p>
            <a:pPr algn="l">
              <a:spcAft>
                <a:spcPts val="500"/>
              </a:spcAft>
            </a:pPr>
            <a:r>
              <a:rPr sz="1600" b="0" i="0">
                <a:solidFill>
                  <a:srgbClr val="1F2933"/>
                </a:solidFill>
                <a:latin typeface="Calibri"/>
              </a:rPr>
              <a:t>XGBoost</a:t>
            </a:r>
          </a:p>
          <a:p>
            <a:pPr algn="l">
              <a:spcAft>
                <a:spcPts val="500"/>
              </a:spcAft>
            </a:pPr>
            <a:r>
              <a:rPr sz="1600" b="0" i="0">
                <a:solidFill>
                  <a:srgbClr val="1F2933"/>
                </a:solidFill>
                <a:latin typeface="Calibri"/>
              </a:rPr>
              <a:t>LightGBM</a:t>
            </a:r>
          </a:p>
          <a:p>
            <a:pPr algn="l">
              <a:spcAft>
                <a:spcPts val="500"/>
              </a:spcAft>
            </a:pPr>
            <a:r>
              <a:rPr sz="1600" b="0" i="0">
                <a:solidFill>
                  <a:srgbClr val="1F2933"/>
                </a:solidFill>
                <a:latin typeface="Calibri"/>
              </a:rPr>
              <a:t>CatBoost</a:t>
            </a:r>
          </a:p>
          <a:p>
            <a:pPr algn="l">
              <a:spcAft>
                <a:spcPts val="500"/>
              </a:spcAft>
            </a:pPr>
            <a:r>
              <a:rPr sz="1600" b="0" i="0">
                <a:solidFill>
                  <a:srgbClr val="1F2933"/>
                </a:solidFill>
                <a:latin typeface="Calibri"/>
              </a:rPr>
              <a:t>Gradient Boosting</a:t>
            </a:r>
          </a:p>
        </p:txBody>
      </p:sp>
      <p:sp>
        <p:nvSpPr>
          <p:cNvPr id="13" name="Column 3"/>
          <p:cNvSpPr/>
          <p:nvPr/>
        </p:nvSpPr>
        <p:spPr>
          <a:xfrm>
            <a:off x="8046719" y="1508760"/>
            <a:ext cx="3593592" cy="310896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lumn head 3"/>
          <p:cNvSpPr/>
          <p:nvPr/>
        </p:nvSpPr>
        <p:spPr>
          <a:xfrm>
            <a:off x="8046719" y="1508760"/>
            <a:ext cx="3593592" cy="868680"/>
          </a:xfrm>
          <a:prstGeom prst="roundRect">
            <a:avLst>
              <a:gd name="adj" fmla="val 6000"/>
            </a:avLst>
          </a:prstGeom>
          <a:solidFill>
            <a:srgbClr val="F4A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572768"/>
            <a:ext cx="3154680" cy="411480"/>
          </a:xfrm>
          <a:prstGeom prst="rect">
            <a:avLst/>
          </a:prstGeom>
          <a:noFill/>
        </p:spPr>
        <p:txBody>
          <a:bodyPr wrap="square" lIns="0" rIns="0" tIns="0" bIns="0" anchor="t">
            <a:spAutoFit/>
          </a:bodyPr>
          <a:lstStyle/>
          <a:p>
            <a:pPr algn="l"/>
            <a:r>
              <a:rPr sz="2000" b="1" i="0">
                <a:solidFill>
                  <a:srgbClr val="0F2A43"/>
                </a:solidFill>
                <a:latin typeface="Calibri"/>
              </a:rPr>
              <a:t>Ensembles</a:t>
            </a:r>
          </a:p>
        </p:txBody>
      </p:sp>
      <p:sp>
        <p:nvSpPr>
          <p:cNvPr id="16" name="TextBox 15"/>
          <p:cNvSpPr txBox="1"/>
          <p:nvPr/>
        </p:nvSpPr>
        <p:spPr>
          <a:xfrm>
            <a:off x="8275319" y="2011680"/>
            <a:ext cx="3154680" cy="320040"/>
          </a:xfrm>
          <a:prstGeom prst="rect">
            <a:avLst/>
          </a:prstGeom>
          <a:noFill/>
        </p:spPr>
        <p:txBody>
          <a:bodyPr wrap="square" lIns="0" rIns="0" tIns="0" bIns="0" anchor="t">
            <a:spAutoFit/>
          </a:bodyPr>
          <a:lstStyle/>
          <a:p>
            <a:pPr algn="l"/>
            <a:r>
              <a:rPr sz="1400" b="0" i="0">
                <a:solidFill>
                  <a:srgbClr val="0F2A43"/>
                </a:solidFill>
                <a:latin typeface="Calibri"/>
              </a:rPr>
              <a:t>combine the boosters</a:t>
            </a:r>
          </a:p>
        </p:txBody>
      </p:sp>
      <p:sp>
        <p:nvSpPr>
          <p:cNvPr id="17" name="TextBox 16"/>
          <p:cNvSpPr txBox="1"/>
          <p:nvPr/>
        </p:nvSpPr>
        <p:spPr>
          <a:xfrm>
            <a:off x="8275319" y="2560320"/>
            <a:ext cx="3154680" cy="2011680"/>
          </a:xfrm>
          <a:prstGeom prst="rect">
            <a:avLst/>
          </a:prstGeom>
          <a:noFill/>
        </p:spPr>
        <p:txBody>
          <a:bodyPr wrap="square" lIns="0" rIns="0" tIns="0" bIns="0" anchor="t">
            <a:spAutoFit/>
          </a:bodyPr>
          <a:lstStyle/>
          <a:p>
            <a:pPr algn="l">
              <a:spcAft>
                <a:spcPts val="500"/>
              </a:spcAft>
            </a:pPr>
            <a:r>
              <a:rPr sz="1600" b="0" i="0">
                <a:solidFill>
                  <a:srgbClr val="1F2933"/>
                </a:solidFill>
                <a:latin typeface="Calibri"/>
              </a:rPr>
              <a:t>Voting (average)</a:t>
            </a:r>
          </a:p>
          <a:p>
            <a:pPr algn="l">
              <a:spcAft>
                <a:spcPts val="500"/>
              </a:spcAft>
            </a:pPr>
            <a:r>
              <a:rPr sz="1600" b="0" i="0">
                <a:solidFill>
                  <a:srgbClr val="1F2933"/>
                </a:solidFill>
                <a:latin typeface="Calibri"/>
              </a:rPr>
              <a:t>Stacking (Ridge meta-learner on out-of-fold predictions)</a:t>
            </a:r>
          </a:p>
        </p:txBody>
      </p:sp>
      <p:sp>
        <p:nvSpPr>
          <p:cNvPr id="18" name="Parameter design"/>
          <p:cNvSpPr/>
          <p:nvPr/>
        </p:nvSpPr>
        <p:spPr>
          <a:xfrm>
            <a:off x="548640" y="4846320"/>
            <a:ext cx="11091672" cy="1371600"/>
          </a:xfrm>
          <a:prstGeom prst="roundRect">
            <a:avLst>
              <a:gd name="adj" fmla="val 6000"/>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956048"/>
            <a:ext cx="10515600" cy="365760"/>
          </a:xfrm>
          <a:prstGeom prst="rect">
            <a:avLst/>
          </a:prstGeom>
          <a:noFill/>
        </p:spPr>
        <p:txBody>
          <a:bodyPr wrap="square" lIns="0" rIns="0" tIns="0" bIns="0" anchor="t">
            <a:spAutoFit/>
          </a:bodyPr>
          <a:lstStyle/>
          <a:p>
            <a:pPr algn="l"/>
            <a:r>
              <a:rPr sz="1600" b="1" i="0">
                <a:solidFill>
                  <a:srgbClr val="F4A83A"/>
                </a:solidFill>
                <a:latin typeface="Calibri"/>
              </a:rPr>
              <a:t>Ranges designed from how each algorithm works and from ~2,400 training rows</a:t>
            </a:r>
          </a:p>
        </p:txBody>
      </p:sp>
      <p:sp>
        <p:nvSpPr>
          <p:cNvPr id="20" name="TextBox 19"/>
          <p:cNvSpPr txBox="1"/>
          <p:nvPr/>
        </p:nvSpPr>
        <p:spPr>
          <a:xfrm>
            <a:off x="822960" y="5376672"/>
            <a:ext cx="10515600" cy="777240"/>
          </a:xfrm>
          <a:prstGeom prst="rect">
            <a:avLst/>
          </a:prstGeom>
          <a:noFill/>
        </p:spPr>
        <p:txBody>
          <a:bodyPr wrap="square" lIns="0" rIns="0" tIns="0" bIns="0" anchor="t">
            <a:spAutoFit/>
          </a:bodyPr>
          <a:lstStyle/>
          <a:p>
            <a:pPr algn="l"/>
            <a:r>
              <a:rPr sz="1400" b="0" i="0">
                <a:solidFill>
                  <a:srgbClr val="FFFFFF"/>
                </a:solidFill>
                <a:latin typeface="Calibri"/>
              </a:rPr>
              <a:t>Boosters: shallow trees (depth 3–8), small learning rates (0.02–0.15), row and column subsampling, L2 penalty 0.5–10. Random Forest: deep trees (8–30), 300–900 trees.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Ensembles cut error from 23.5% to about 13%</a:t>
            </a:r>
          </a:p>
        </p:txBody>
      </p:sp>
      <p:sp>
        <p:nvSpPr>
          <p:cNvPr id="3" name="Chart card"/>
          <p:cNvSpPr/>
          <p:nvPr/>
        </p:nvSpPr>
        <p:spPr>
          <a:xfrm>
            <a:off x="548640" y="1371600"/>
            <a:ext cx="7040880" cy="484632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Average error by model"/>
          <p:cNvGraphicFramePr>
            <a:graphicFrameLocks noGrp="1"/>
          </p:cNvGraphicFramePr>
          <p:nvPr/>
        </p:nvGraphicFramePr>
        <p:xfrm>
          <a:off x="685800" y="1783080"/>
          <a:ext cx="6766560" cy="4343400"/>
        </p:xfrm>
        <a:graphic>
          <a:graphicData uri="http://schemas.openxmlformats.org/drawingml/2006/chart">
            <c:chart xmlns:c="http://schemas.openxmlformats.org/drawingml/2006/chart" r:id="rId2"/>
          </a:graphicData>
        </a:graphic>
      </p:graphicFrame>
      <p:sp>
        <p:nvSpPr>
          <p:cNvPr id="5" name="TextBox 4"/>
          <p:cNvSpPr txBox="1"/>
          <p:nvPr/>
        </p:nvSpPr>
        <p:spPr>
          <a:xfrm>
            <a:off x="822960" y="1481328"/>
            <a:ext cx="6583680" cy="320040"/>
          </a:xfrm>
          <a:prstGeom prst="rect">
            <a:avLst/>
          </a:prstGeom>
          <a:noFill/>
        </p:spPr>
        <p:txBody>
          <a:bodyPr wrap="square" lIns="0" rIns="0" tIns="0" bIns="0" anchor="t">
            <a:spAutoFit/>
          </a:bodyPr>
          <a:lstStyle/>
          <a:p>
            <a:pPr algn="l"/>
            <a:r>
              <a:rPr sz="1400" b="1" i="0">
                <a:solidFill>
                  <a:srgbClr val="0F2A43"/>
                </a:solidFill>
                <a:latin typeface="Calibri"/>
              </a:rPr>
              <a:t>Average % error on 600 unseen cars (lower is better)</a:t>
            </a:r>
          </a:p>
        </p:txBody>
      </p:sp>
      <p:sp>
        <p:nvSpPr>
          <p:cNvPr id="6" name="Result 1"/>
          <p:cNvSpPr/>
          <p:nvPr/>
        </p:nvSpPr>
        <p:spPr>
          <a:xfrm>
            <a:off x="7863840" y="1371600"/>
            <a:ext cx="3776472" cy="1481328"/>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92440" y="1481328"/>
            <a:ext cx="3383280" cy="640080"/>
          </a:xfrm>
          <a:prstGeom prst="rect">
            <a:avLst/>
          </a:prstGeom>
          <a:noFill/>
        </p:spPr>
        <p:txBody>
          <a:bodyPr wrap="square" lIns="0" rIns="0" tIns="0" bIns="0" anchor="ctr">
            <a:spAutoFit/>
          </a:bodyPr>
          <a:lstStyle/>
          <a:p>
            <a:pPr algn="l"/>
            <a:r>
              <a:rPr sz="3200" b="1" i="0">
                <a:solidFill>
                  <a:srgbClr val="1B7F8C"/>
                </a:solidFill>
                <a:latin typeface="Cambria"/>
              </a:rPr>
              <a:t>0.914</a:t>
            </a:r>
          </a:p>
        </p:txBody>
      </p:sp>
      <p:sp>
        <p:nvSpPr>
          <p:cNvPr id="8" name="TextBox 7"/>
          <p:cNvSpPr txBox="1"/>
          <p:nvPr/>
        </p:nvSpPr>
        <p:spPr>
          <a:xfrm>
            <a:off x="8092440" y="2148840"/>
            <a:ext cx="3383280" cy="640080"/>
          </a:xfrm>
          <a:prstGeom prst="rect">
            <a:avLst/>
          </a:prstGeom>
          <a:noFill/>
        </p:spPr>
        <p:txBody>
          <a:bodyPr wrap="square" lIns="0" rIns="0" tIns="0" bIns="0" anchor="t">
            <a:spAutoFit/>
          </a:bodyPr>
          <a:lstStyle/>
          <a:p>
            <a:pPr algn="l"/>
            <a:r>
              <a:rPr sz="1400" b="0" i="0">
                <a:solidFill>
                  <a:srgbClr val="1F2933"/>
                </a:solidFill>
                <a:latin typeface="Calibri"/>
              </a:rPr>
              <a:t>R² of the stacked model on the test set</a:t>
            </a:r>
          </a:p>
        </p:txBody>
      </p:sp>
      <p:sp>
        <p:nvSpPr>
          <p:cNvPr id="9" name="Result 2"/>
          <p:cNvSpPr/>
          <p:nvPr/>
        </p:nvSpPr>
        <p:spPr>
          <a:xfrm>
            <a:off x="7863840" y="3017520"/>
            <a:ext cx="3776472" cy="1481328"/>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3127248"/>
            <a:ext cx="3383280" cy="640080"/>
          </a:xfrm>
          <a:prstGeom prst="rect">
            <a:avLst/>
          </a:prstGeom>
          <a:noFill/>
        </p:spPr>
        <p:txBody>
          <a:bodyPr wrap="square" lIns="0" rIns="0" tIns="0" bIns="0" anchor="ctr">
            <a:spAutoFit/>
          </a:bodyPr>
          <a:lstStyle/>
          <a:p>
            <a:pPr algn="l"/>
            <a:r>
              <a:rPr sz="2800" b="1" i="0">
                <a:solidFill>
                  <a:srgbClr val="1B7F8C"/>
                </a:solidFill>
                <a:latin typeface="Cambria"/>
              </a:rPr>
              <a:t>CatBoost</a:t>
            </a:r>
          </a:p>
        </p:txBody>
      </p:sp>
      <p:sp>
        <p:nvSpPr>
          <p:cNvPr id="11" name="TextBox 10"/>
          <p:cNvSpPr txBox="1"/>
          <p:nvPr/>
        </p:nvSpPr>
        <p:spPr>
          <a:xfrm>
            <a:off x="8092440" y="3794759"/>
            <a:ext cx="3383280" cy="640080"/>
          </a:xfrm>
          <a:prstGeom prst="rect">
            <a:avLst/>
          </a:prstGeom>
          <a:noFill/>
        </p:spPr>
        <p:txBody>
          <a:bodyPr wrap="square" lIns="0" rIns="0" tIns="0" bIns="0" anchor="t">
            <a:spAutoFit/>
          </a:bodyPr>
          <a:lstStyle/>
          <a:p>
            <a:pPr algn="l"/>
            <a:r>
              <a:rPr sz="1400" b="0" i="0">
                <a:solidFill>
                  <a:srgbClr val="1F2933"/>
                </a:solidFill>
                <a:latin typeface="Calibri"/>
              </a:rPr>
              <a:t>best single model, thanks to native categorical handling</a:t>
            </a:r>
          </a:p>
        </p:txBody>
      </p:sp>
      <p:sp>
        <p:nvSpPr>
          <p:cNvPr id="12" name="Result 3"/>
          <p:cNvSpPr/>
          <p:nvPr/>
        </p:nvSpPr>
        <p:spPr>
          <a:xfrm>
            <a:off x="7863840" y="4663440"/>
            <a:ext cx="3776472" cy="1481328"/>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4773168"/>
            <a:ext cx="3383280" cy="640080"/>
          </a:xfrm>
          <a:prstGeom prst="rect">
            <a:avLst/>
          </a:prstGeom>
          <a:noFill/>
        </p:spPr>
        <p:txBody>
          <a:bodyPr wrap="square" lIns="0" rIns="0" tIns="0" bIns="0" anchor="ctr">
            <a:spAutoFit/>
          </a:bodyPr>
          <a:lstStyle/>
          <a:p>
            <a:pPr algn="l"/>
            <a:r>
              <a:rPr sz="3200" b="1" i="0">
                <a:solidFill>
                  <a:srgbClr val="1B7F8C"/>
                </a:solidFill>
                <a:latin typeface="Cambria"/>
              </a:rPr>
              <a:t>0.76 / 0.74</a:t>
            </a:r>
          </a:p>
        </p:txBody>
      </p:sp>
      <p:sp>
        <p:nvSpPr>
          <p:cNvPr id="14" name="TextBox 13"/>
          <p:cNvSpPr txBox="1"/>
          <p:nvPr/>
        </p:nvSpPr>
        <p:spPr>
          <a:xfrm>
            <a:off x="8092440" y="5440679"/>
            <a:ext cx="3383280" cy="640080"/>
          </a:xfrm>
          <a:prstGeom prst="rect">
            <a:avLst/>
          </a:prstGeom>
          <a:noFill/>
        </p:spPr>
        <p:txBody>
          <a:bodyPr wrap="square" lIns="0" rIns="0" tIns="0" bIns="0" anchor="t">
            <a:spAutoFit/>
          </a:bodyPr>
          <a:lstStyle/>
          <a:p>
            <a:pPr algn="l"/>
            <a:r>
              <a:rPr sz="1400" b="0" i="0">
                <a:solidFill>
                  <a:srgbClr val="1F2933"/>
                </a:solidFill>
                <a:latin typeface="Calibri"/>
              </a:rPr>
              <a:t>R² of the Ridge and Decision Tree baselines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Each model has trade-offs</a:t>
            </a:r>
          </a:p>
        </p:txBody>
      </p:sp>
      <p:graphicFrame>
        <p:nvGraphicFramePr>
          <p:cNvPr id="3" name="Table 2"/>
          <p:cNvGraphicFramePr>
            <a:graphicFrameLocks noGrp="1"/>
          </p:cNvGraphicFramePr>
          <p:nvPr/>
        </p:nvGraphicFramePr>
        <p:xfrm>
          <a:off x="548640" y="1463040"/>
          <a:ext cx="11091672" cy="4114800"/>
        </p:xfrm>
        <a:graphic>
          <a:graphicData uri="http://schemas.openxmlformats.org/drawingml/2006/table">
            <a:tbl>
              <a:tblPr firstRow="0" bandRow="0">
                <a:tableStyleId>{5C22544A-7EE6-4342-B048-85BDC9FD1C3A}</a:tableStyleId>
              </a:tblPr>
              <a:tblGrid>
                <a:gridCol w="2377440"/>
                <a:gridCol w="3931920"/>
                <a:gridCol w="4782312"/>
              </a:tblGrid>
              <a:tr h="457200">
                <a:tc>
                  <a:txBody>
                    <a:bodyPr wrap="square"/>
                    <a:lstStyle/>
                    <a:p>
                      <a:r>
                        <a:rPr sz="1400" b="1">
                          <a:solidFill>
                            <a:srgbClr val="FFFFFF"/>
                          </a:solidFill>
                          <a:latin typeface="Calibri"/>
                        </a:rPr>
                        <a:t>Model</a:t>
                      </a:r>
                    </a:p>
                  </a:txBody>
                  <a:tcPr marL="109728" marR="109728" marT="54864" marB="54864" anchor="ctr">
                    <a:solidFill>
                      <a:srgbClr val="0F2A43"/>
                    </a:solidFill>
                  </a:tcPr>
                </a:tc>
                <a:tc>
                  <a:txBody>
                    <a:bodyPr wrap="square"/>
                    <a:lstStyle/>
                    <a:p>
                      <a:r>
                        <a:rPr sz="1400" b="1">
                          <a:solidFill>
                            <a:srgbClr val="FFFFFF"/>
                          </a:solidFill>
                          <a:latin typeface="Calibri"/>
                        </a:rPr>
                        <a:t>Strength</a:t>
                      </a:r>
                    </a:p>
                  </a:txBody>
                  <a:tcPr marL="109728" marR="109728" marT="54864" marB="54864" anchor="ctr">
                    <a:solidFill>
                      <a:srgbClr val="0F2A43"/>
                    </a:solidFill>
                  </a:tcPr>
                </a:tc>
                <a:tc>
                  <a:txBody>
                    <a:bodyPr wrap="square"/>
                    <a:lstStyle/>
                    <a:p>
                      <a:r>
                        <a:rPr sz="1400" b="1">
                          <a:solidFill>
                            <a:srgbClr val="FFFFFF"/>
                          </a:solidFill>
                          <a:latin typeface="Calibri"/>
                        </a:rPr>
                        <a:t>Limitation seen in this project</a:t>
                      </a:r>
                    </a:p>
                  </a:txBody>
                  <a:tcPr marL="109728" marR="109728" marT="54864" marB="54864" anchor="ctr">
                    <a:solidFill>
                      <a:srgbClr val="0F2A43"/>
                    </a:solidFill>
                  </a:tcPr>
                </a:tc>
              </a:tr>
              <a:tr h="731520">
                <a:tc>
                  <a:txBody>
                    <a:bodyPr wrap="square"/>
                    <a:lstStyle/>
                    <a:p>
                      <a:r>
                        <a:rPr sz="1400" b="1">
                          <a:solidFill>
                            <a:srgbClr val="1F2933"/>
                          </a:solidFill>
                          <a:latin typeface="Calibri"/>
                        </a:rPr>
                        <a:t>Ridge / linear</a:t>
                      </a:r>
                    </a:p>
                  </a:txBody>
                  <a:tcPr marL="109728" marR="109728" marT="54864" marB="54864" anchor="ctr">
                    <a:solidFill>
                      <a:srgbClr val="FFFFFF"/>
                    </a:solidFill>
                  </a:tcPr>
                </a:tc>
                <a:tc>
                  <a:txBody>
                    <a:bodyPr wrap="square"/>
                    <a:lstStyle/>
                    <a:p>
                      <a:r>
                        <a:rPr sz="1400" b="0">
                          <a:solidFill>
                            <a:srgbClr val="1F2933"/>
                          </a:solidFill>
                          <a:latin typeface="Calibri"/>
                        </a:rPr>
                        <a:t>Fast and transparent</a:t>
                      </a:r>
                    </a:p>
                  </a:txBody>
                  <a:tcPr marL="109728" marR="109728" marT="54864" marB="54864" anchor="ctr">
                    <a:solidFill>
                      <a:srgbClr val="FFFFFF"/>
                    </a:solidFill>
                  </a:tcPr>
                </a:tc>
                <a:tc>
                  <a:txBody>
                    <a:bodyPr wrap="square"/>
                    <a:lstStyle/>
                    <a:p>
                      <a:r>
                        <a:rPr sz="1400" b="0">
                          <a:solidFill>
                            <a:srgbClr val="1F2933"/>
                          </a:solidFill>
                          <a:latin typeface="Calibri"/>
                        </a:rPr>
                        <a:t>Cannot capture non-linear depreciation; poor in rupees (R² 0.76)</a:t>
                      </a:r>
                    </a:p>
                  </a:txBody>
                  <a:tcPr marL="109728" marR="109728" marT="54864" marB="54864" anchor="ctr">
                    <a:solidFill>
                      <a:srgbClr val="FFFFFF"/>
                    </a:solidFill>
                  </a:tcPr>
                </a:tc>
              </a:tr>
              <a:tr h="731520">
                <a:tc>
                  <a:txBody>
                    <a:bodyPr wrap="square"/>
                    <a:lstStyle/>
                    <a:p>
                      <a:r>
                        <a:rPr sz="1400" b="1">
                          <a:solidFill>
                            <a:srgbClr val="1F2933"/>
                          </a:solidFill>
                          <a:latin typeface="Calibri"/>
                        </a:rPr>
                        <a:t>Random Forest</a:t>
                      </a:r>
                    </a:p>
                  </a:txBody>
                  <a:tcPr marL="109728" marR="109728" marT="54864" marB="54864" anchor="ctr">
                    <a:solidFill>
                      <a:srgbClr val="EEF2F6"/>
                    </a:solidFill>
                  </a:tcPr>
                </a:tc>
                <a:tc>
                  <a:txBody>
                    <a:bodyPr wrap="square"/>
                    <a:lstStyle/>
                    <a:p>
                      <a:r>
                        <a:rPr sz="1400" b="0">
                          <a:solidFill>
                            <a:srgbClr val="1F2933"/>
                          </a:solidFill>
                          <a:latin typeface="Calibri"/>
                        </a:rPr>
                        <a:t>Robust, little tuning</a:t>
                      </a:r>
                    </a:p>
                  </a:txBody>
                  <a:tcPr marL="109728" marR="109728" marT="54864" marB="54864" anchor="ctr">
                    <a:solidFill>
                      <a:srgbClr val="EEF2F6"/>
                    </a:solidFill>
                  </a:tcPr>
                </a:tc>
                <a:tc>
                  <a:txBody>
                    <a:bodyPr wrap="square"/>
                    <a:lstStyle/>
                    <a:p>
                      <a:r>
                        <a:rPr sz="1400" b="0">
                          <a:solidFill>
                            <a:srgbClr val="1F2933"/>
                          </a:solidFill>
                          <a:latin typeface="Calibri"/>
                        </a:rPr>
                        <a:t>Cannot extrapolate: luxury cars come out too cheap</a:t>
                      </a:r>
                    </a:p>
                  </a:txBody>
                  <a:tcPr marL="109728" marR="109728" marT="54864" marB="54864" anchor="ctr">
                    <a:solidFill>
                      <a:srgbClr val="EEF2F6"/>
                    </a:solidFill>
                  </a:tcPr>
                </a:tc>
              </a:tr>
              <a:tr h="731520">
                <a:tc>
                  <a:txBody>
                    <a:bodyPr wrap="square"/>
                    <a:lstStyle/>
                    <a:p>
                      <a:r>
                        <a:rPr sz="1400" b="1">
                          <a:solidFill>
                            <a:srgbClr val="1F2933"/>
                          </a:solidFill>
                          <a:latin typeface="Calibri"/>
                        </a:rPr>
                        <a:t>XGBoost / LightGBM</a:t>
                      </a:r>
                    </a:p>
                  </a:txBody>
                  <a:tcPr marL="109728" marR="109728" marT="54864" marB="54864" anchor="ctr">
                    <a:solidFill>
                      <a:srgbClr val="FFFFFF"/>
                    </a:solidFill>
                  </a:tcPr>
                </a:tc>
                <a:tc>
                  <a:txBody>
                    <a:bodyPr wrap="square"/>
                    <a:lstStyle/>
                    <a:p>
                      <a:r>
                        <a:rPr sz="1400" b="0">
                          <a:solidFill>
                            <a:srgbClr val="1F2933"/>
                          </a:solidFill>
                          <a:latin typeface="Calibri"/>
                        </a:rPr>
                        <a:t>Accurate, regularised, fast</a:t>
                      </a:r>
                    </a:p>
                  </a:txBody>
                  <a:tcPr marL="109728" marR="109728" marT="54864" marB="54864" anchor="ctr">
                    <a:solidFill>
                      <a:srgbClr val="FFFFFF"/>
                    </a:solidFill>
                  </a:tcPr>
                </a:tc>
                <a:tc>
                  <a:txBody>
                    <a:bodyPr wrap="square"/>
                    <a:lstStyle/>
                    <a:p>
                      <a:r>
                        <a:rPr sz="1400" b="0">
                          <a:solidFill>
                            <a:srgbClr val="1F2933"/>
                          </a:solidFill>
                          <a:latin typeface="Calibri"/>
                        </a:rPr>
                        <a:t>Needs careful tuning; categories must be encoded by hand</a:t>
                      </a:r>
                    </a:p>
                  </a:txBody>
                  <a:tcPr marL="109728" marR="109728" marT="54864" marB="54864" anchor="ctr">
                    <a:solidFill>
                      <a:srgbClr val="FFFFFF"/>
                    </a:solidFill>
                  </a:tcPr>
                </a:tc>
              </a:tr>
              <a:tr h="731520">
                <a:tc>
                  <a:txBody>
                    <a:bodyPr wrap="square"/>
                    <a:lstStyle/>
                    <a:p>
                      <a:r>
                        <a:rPr sz="1400" b="1">
                          <a:solidFill>
                            <a:srgbClr val="1F2933"/>
                          </a:solidFill>
                          <a:latin typeface="Calibri"/>
                        </a:rPr>
                        <a:t>CatBoost</a:t>
                      </a:r>
                    </a:p>
                  </a:txBody>
                  <a:tcPr marL="109728" marR="109728" marT="54864" marB="54864" anchor="ctr">
                    <a:solidFill>
                      <a:srgbClr val="EEF2F6"/>
                    </a:solidFill>
                  </a:tcPr>
                </a:tc>
                <a:tc>
                  <a:txBody>
                    <a:bodyPr wrap="square"/>
                    <a:lstStyle/>
                    <a:p>
                      <a:r>
                        <a:rPr sz="1400" b="0">
                          <a:solidFill>
                            <a:srgbClr val="1F2933"/>
                          </a:solidFill>
                          <a:latin typeface="Calibri"/>
                        </a:rPr>
                        <a:t>Native categorical handling: best single model</a:t>
                      </a:r>
                    </a:p>
                  </a:txBody>
                  <a:tcPr marL="109728" marR="109728" marT="54864" marB="54864" anchor="ctr">
                    <a:solidFill>
                      <a:srgbClr val="EEF2F6"/>
                    </a:solidFill>
                  </a:tcPr>
                </a:tc>
                <a:tc>
                  <a:txBody>
                    <a:bodyPr wrap="square"/>
                    <a:lstStyle/>
                    <a:p>
                      <a:r>
                        <a:rPr sz="1400" b="0">
                          <a:solidFill>
                            <a:srgbClr val="1F2933"/>
                          </a:solidFill>
                          <a:latin typeface="Calibri"/>
                        </a:rPr>
                        <a:t>Slowest to train</a:t>
                      </a:r>
                    </a:p>
                  </a:txBody>
                  <a:tcPr marL="109728" marR="109728" marT="54864" marB="54864" anchor="ctr">
                    <a:solidFill>
                      <a:srgbClr val="EEF2F6"/>
                    </a:solidFill>
                  </a:tcPr>
                </a:tc>
              </a:tr>
              <a:tr h="731520">
                <a:tc>
                  <a:txBody>
                    <a:bodyPr wrap="square"/>
                    <a:lstStyle/>
                    <a:p>
                      <a:r>
                        <a:rPr sz="1400" b="1">
                          <a:solidFill>
                            <a:srgbClr val="1F2933"/>
                          </a:solidFill>
                          <a:latin typeface="Calibri"/>
                        </a:rPr>
                        <a:t>Voting / Stacking</a:t>
                      </a:r>
                    </a:p>
                  </a:txBody>
                  <a:tcPr marL="109728" marR="109728" marT="54864" marB="54864" anchor="ctr">
                    <a:solidFill>
                      <a:srgbClr val="FFFFFF"/>
                    </a:solidFill>
                  </a:tcPr>
                </a:tc>
                <a:tc>
                  <a:txBody>
                    <a:bodyPr wrap="square"/>
                    <a:lstStyle/>
                    <a:p>
                      <a:r>
                        <a:rPr sz="1400" b="0">
                          <a:solidFill>
                            <a:srgbClr val="1F2933"/>
                          </a:solidFill>
                          <a:latin typeface="Calibri"/>
                        </a:rPr>
                        <a:t>Combine different error patterns; best R²</a:t>
                      </a:r>
                    </a:p>
                  </a:txBody>
                  <a:tcPr marL="109728" marR="109728" marT="54864" marB="54864" anchor="ctr">
                    <a:solidFill>
                      <a:srgbClr val="FFFFFF"/>
                    </a:solidFill>
                  </a:tcPr>
                </a:tc>
                <a:tc>
                  <a:txBody>
                    <a:bodyPr wrap="square"/>
                    <a:lstStyle/>
                    <a:p>
                      <a:r>
                        <a:rPr sz="1400" b="0">
                          <a:solidFill>
                            <a:srgbClr val="1F2933"/>
                          </a:solidFill>
                          <a:latin typeface="Calibri"/>
                        </a:rPr>
                        <a:t>Most complex; small gain over CatBoost</a:t>
                      </a:r>
                    </a:p>
                  </a:txBody>
                  <a:tcPr marL="109728" marR="109728" marT="54864" marB="54864"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SHAP and LIME show why a car gets its price</a:t>
            </a:r>
          </a:p>
        </p:txBody>
      </p:sp>
      <p:sp>
        <p:nvSpPr>
          <p:cNvPr id="3" name="SHAP card"/>
          <p:cNvSpPr/>
          <p:nvPr/>
        </p:nvSpPr>
        <p:spPr>
          <a:xfrm>
            <a:off x="548640" y="1417320"/>
            <a:ext cx="5394960" cy="379476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IME card"/>
          <p:cNvSpPr/>
          <p:nvPr/>
        </p:nvSpPr>
        <p:spPr>
          <a:xfrm>
            <a:off x="6245352" y="1417320"/>
            <a:ext cx="5394960" cy="379476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SHAP bar chart: engine size, age and mileage matter most" descr="SHAP bar chart: engine size, age and mileage matter most"/>
          <p:cNvPicPr>
            <a:picLocks noChangeAspect="1"/>
          </p:cNvPicPr>
          <p:nvPr/>
        </p:nvPicPr>
        <p:blipFill>
          <a:blip r:embed="rId2"/>
          <a:stretch>
            <a:fillRect/>
          </a:stretch>
        </p:blipFill>
        <p:spPr>
          <a:xfrm>
            <a:off x="1307164" y="1481328"/>
            <a:ext cx="3877911" cy="3383280"/>
          </a:xfrm>
          <a:prstGeom prst="rect">
            <a:avLst/>
          </a:prstGeom>
        </p:spPr>
      </p:pic>
      <p:pic>
        <p:nvPicPr>
          <p:cNvPr id="6" name="LIME explanation for a 2018 Suzuki Alto" descr="LIME explanation for a 2018 Suzuki Alto"/>
          <p:cNvPicPr>
            <a:picLocks noChangeAspect="1"/>
          </p:cNvPicPr>
          <p:nvPr/>
        </p:nvPicPr>
        <p:blipFill>
          <a:blip r:embed="rId3"/>
          <a:stretch>
            <a:fillRect/>
          </a:stretch>
        </p:blipFill>
        <p:spPr>
          <a:xfrm>
            <a:off x="6664222" y="1481328"/>
            <a:ext cx="4557219" cy="3383280"/>
          </a:xfrm>
          <a:prstGeom prst="rect">
            <a:avLst/>
          </a:prstGeom>
        </p:spPr>
      </p:pic>
      <p:sp>
        <p:nvSpPr>
          <p:cNvPr id="7" name="TextBox 6"/>
          <p:cNvSpPr txBox="1"/>
          <p:nvPr/>
        </p:nvSpPr>
        <p:spPr>
          <a:xfrm>
            <a:off x="731520" y="4572000"/>
            <a:ext cx="5029200" cy="548640"/>
          </a:xfrm>
          <a:prstGeom prst="rect">
            <a:avLst/>
          </a:prstGeom>
          <a:noFill/>
        </p:spPr>
        <p:txBody>
          <a:bodyPr wrap="square" lIns="0" rIns="0" tIns="0" bIns="0" anchor="t">
            <a:spAutoFit/>
          </a:bodyPr>
          <a:lstStyle/>
          <a:p>
            <a:pPr algn="ctr"/>
            <a:r>
              <a:rPr sz="1400" b="1" i="0">
                <a:solidFill>
                  <a:srgbClr val="0F2A43"/>
                </a:solidFill>
                <a:latin typeface="Calibri"/>
              </a:rPr>
              <a:t>SHAP: engine size, age and mileage matter most</a:t>
            </a:r>
          </a:p>
        </p:txBody>
      </p:sp>
      <p:sp>
        <p:nvSpPr>
          <p:cNvPr id="8" name="TextBox 7"/>
          <p:cNvSpPr txBox="1"/>
          <p:nvPr/>
        </p:nvSpPr>
        <p:spPr>
          <a:xfrm>
            <a:off x="6428232" y="4572000"/>
            <a:ext cx="5029200" cy="548640"/>
          </a:xfrm>
          <a:prstGeom prst="rect">
            <a:avLst/>
          </a:prstGeom>
          <a:noFill/>
        </p:spPr>
        <p:txBody>
          <a:bodyPr wrap="square" lIns="0" rIns="0" tIns="0" bIns="0" anchor="t">
            <a:spAutoFit/>
          </a:bodyPr>
          <a:lstStyle/>
          <a:p>
            <a:pPr algn="ctr"/>
            <a:r>
              <a:rPr sz="1400" b="1" i="0">
                <a:solidFill>
                  <a:srgbClr val="0F2A43"/>
                </a:solidFill>
                <a:latin typeface="Calibri"/>
              </a:rPr>
              <a:t>LIME: this Alto is cheaper because of its small engine and manual gearbox</a:t>
            </a:r>
          </a:p>
        </p:txBody>
      </p:sp>
      <p:sp>
        <p:nvSpPr>
          <p:cNvPr id="9" name="Takeaway"/>
          <p:cNvSpPr/>
          <p:nvPr/>
        </p:nvSpPr>
        <p:spPr>
          <a:xfrm>
            <a:off x="548640" y="5440680"/>
            <a:ext cx="11091672" cy="868680"/>
          </a:xfrm>
          <a:prstGeom prst="roundRect">
            <a:avLst>
              <a:gd name="adj" fmla="val 6000"/>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440680"/>
            <a:ext cx="10515600" cy="868680"/>
          </a:xfrm>
          <a:prstGeom prst="rect">
            <a:avLst/>
          </a:prstGeom>
          <a:noFill/>
        </p:spPr>
        <p:txBody>
          <a:bodyPr wrap="square" lIns="0" rIns="0" tIns="0" bIns="0" anchor="ctr">
            <a:spAutoFit/>
          </a:bodyPr>
          <a:lstStyle/>
          <a:p>
            <a:pPr algn="l"/>
            <a:r>
              <a:rPr sz="1600" b="0" i="0">
                <a:solidFill>
                  <a:srgbClr val="FFFFFF"/>
                </a:solidFill>
                <a:latin typeface="Calibri"/>
              </a:rPr>
              <a:t>LIME also flagged an implausible mileage on a 2007 Hyundai Santa Fe, so explanations double as a data-quality check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MLOps: tested, monitored and redeployed automatically</a:t>
            </a:r>
          </a:p>
        </p:txBody>
      </p:sp>
      <p:sp>
        <p:nvSpPr>
          <p:cNvPr id="3" name="Deploy step 1"/>
          <p:cNvSpPr/>
          <p:nvPr/>
        </p:nvSpPr>
        <p:spPr>
          <a:xfrm>
            <a:off x="548640" y="1508760"/>
            <a:ext cx="2514600" cy="15544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27632"/>
            <a:ext cx="2148840" cy="365760"/>
          </a:xfrm>
          <a:prstGeom prst="rect">
            <a:avLst/>
          </a:prstGeom>
          <a:noFill/>
        </p:spPr>
        <p:txBody>
          <a:bodyPr wrap="square" lIns="0" rIns="0" tIns="0" bIns="0" anchor="t">
            <a:spAutoFit/>
          </a:bodyPr>
          <a:lstStyle/>
          <a:p>
            <a:pPr algn="l"/>
            <a:r>
              <a:rPr sz="1800" b="1" i="0">
                <a:solidFill>
                  <a:srgbClr val="1B7F8C"/>
                </a:solidFill>
                <a:latin typeface="Calibri"/>
              </a:rPr>
              <a:t>Push or PR</a:t>
            </a:r>
          </a:p>
        </p:txBody>
      </p:sp>
      <p:sp>
        <p:nvSpPr>
          <p:cNvPr id="5" name="TextBox 4"/>
          <p:cNvSpPr txBox="1"/>
          <p:nvPr/>
        </p:nvSpPr>
        <p:spPr>
          <a:xfrm>
            <a:off x="731520" y="2057400"/>
            <a:ext cx="2148840" cy="960120"/>
          </a:xfrm>
          <a:prstGeom prst="rect">
            <a:avLst/>
          </a:prstGeom>
          <a:noFill/>
        </p:spPr>
        <p:txBody>
          <a:bodyPr wrap="square" lIns="0" rIns="0" tIns="0" bIns="0" anchor="t">
            <a:spAutoFit/>
          </a:bodyPr>
          <a:lstStyle/>
          <a:p>
            <a:pPr algn="l"/>
            <a:r>
              <a:rPr sz="1400" b="0" i="0">
                <a:solidFill>
                  <a:srgbClr val="1F2933"/>
                </a:solidFill>
                <a:latin typeface="Calibri"/>
              </a:rPr>
              <a:t>GitHub</a:t>
            </a:r>
          </a:p>
        </p:txBody>
      </p:sp>
      <p:sp>
        <p:nvSpPr>
          <p:cNvPr id="6" name="Arrow 1"/>
          <p:cNvSpPr txBox="1"/>
          <p:nvPr/>
        </p:nvSpPr>
        <p:spPr>
          <a:xfrm>
            <a:off x="3063240" y="2011680"/>
            <a:ext cx="320040" cy="457200"/>
          </a:xfrm>
          <a:prstGeom prst="rect">
            <a:avLst/>
          </a:prstGeom>
          <a:noFill/>
        </p:spPr>
        <p:txBody>
          <a:bodyPr wrap="square" lIns="0" rIns="0" tIns="0" bIns="0" anchor="t">
            <a:spAutoFit/>
          </a:bodyPr>
          <a:lstStyle/>
          <a:p>
            <a:pPr algn="ctr"/>
            <a:r>
              <a:rPr sz="2400" b="1" i="0">
                <a:solidFill>
                  <a:srgbClr val="F4A83A"/>
                </a:solidFill>
                <a:latin typeface="Calibri"/>
              </a:rPr>
              <a:t>&gt;</a:t>
            </a:r>
          </a:p>
        </p:txBody>
      </p:sp>
      <p:sp>
        <p:nvSpPr>
          <p:cNvPr id="7" name="Deploy step 2"/>
          <p:cNvSpPr/>
          <p:nvPr/>
        </p:nvSpPr>
        <p:spPr>
          <a:xfrm>
            <a:off x="3383280" y="1508760"/>
            <a:ext cx="2514600" cy="15544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627632"/>
            <a:ext cx="2148840" cy="365760"/>
          </a:xfrm>
          <a:prstGeom prst="rect">
            <a:avLst/>
          </a:prstGeom>
          <a:noFill/>
        </p:spPr>
        <p:txBody>
          <a:bodyPr wrap="square" lIns="0" rIns="0" tIns="0" bIns="0" anchor="t">
            <a:spAutoFit/>
          </a:bodyPr>
          <a:lstStyle/>
          <a:p>
            <a:pPr algn="l"/>
            <a:r>
              <a:rPr sz="1800" b="1" i="0">
                <a:solidFill>
                  <a:srgbClr val="1B7F8C"/>
                </a:solidFill>
                <a:latin typeface="Calibri"/>
              </a:rPr>
              <a:t>CI</a:t>
            </a:r>
          </a:p>
        </p:txBody>
      </p:sp>
      <p:sp>
        <p:nvSpPr>
          <p:cNvPr id="9" name="TextBox 8"/>
          <p:cNvSpPr txBox="1"/>
          <p:nvPr/>
        </p:nvSpPr>
        <p:spPr>
          <a:xfrm>
            <a:off x="3566160" y="2057400"/>
            <a:ext cx="2148840" cy="960120"/>
          </a:xfrm>
          <a:prstGeom prst="rect">
            <a:avLst/>
          </a:prstGeom>
          <a:noFill/>
        </p:spPr>
        <p:txBody>
          <a:bodyPr wrap="square" lIns="0" rIns="0" tIns="0" bIns="0" anchor="t">
            <a:spAutoFit/>
          </a:bodyPr>
          <a:lstStyle/>
          <a:p>
            <a:pPr algn="l"/>
            <a:r>
              <a:rPr sz="1400" b="0" i="0">
                <a:solidFill>
                  <a:srgbClr val="1F2933"/>
                </a:solidFill>
                <a:latin typeface="Calibri"/>
              </a:rPr>
              <a:t>9 tests + quality gate + Docker health check</a:t>
            </a:r>
          </a:p>
        </p:txBody>
      </p:sp>
      <p:sp>
        <p:nvSpPr>
          <p:cNvPr id="10" name="Arrow 2"/>
          <p:cNvSpPr txBox="1"/>
          <p:nvPr/>
        </p:nvSpPr>
        <p:spPr>
          <a:xfrm>
            <a:off x="5897880" y="2011680"/>
            <a:ext cx="320040" cy="457200"/>
          </a:xfrm>
          <a:prstGeom prst="rect">
            <a:avLst/>
          </a:prstGeom>
          <a:noFill/>
        </p:spPr>
        <p:txBody>
          <a:bodyPr wrap="square" lIns="0" rIns="0" tIns="0" bIns="0" anchor="t">
            <a:spAutoFit/>
          </a:bodyPr>
          <a:lstStyle/>
          <a:p>
            <a:pPr algn="ctr"/>
            <a:r>
              <a:rPr sz="2400" b="1" i="0">
                <a:solidFill>
                  <a:srgbClr val="F4A83A"/>
                </a:solidFill>
                <a:latin typeface="Calibri"/>
              </a:rPr>
              <a:t>&gt;</a:t>
            </a:r>
          </a:p>
        </p:txBody>
      </p:sp>
      <p:sp>
        <p:nvSpPr>
          <p:cNvPr id="11" name="Deploy step 3"/>
          <p:cNvSpPr/>
          <p:nvPr/>
        </p:nvSpPr>
        <p:spPr>
          <a:xfrm>
            <a:off x="6217920" y="1508760"/>
            <a:ext cx="2514600" cy="15544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27632"/>
            <a:ext cx="2148840" cy="365760"/>
          </a:xfrm>
          <a:prstGeom prst="rect">
            <a:avLst/>
          </a:prstGeom>
          <a:noFill/>
        </p:spPr>
        <p:txBody>
          <a:bodyPr wrap="square" lIns="0" rIns="0" tIns="0" bIns="0" anchor="t">
            <a:spAutoFit/>
          </a:bodyPr>
          <a:lstStyle/>
          <a:p>
            <a:pPr algn="l"/>
            <a:r>
              <a:rPr sz="1800" b="1" i="0">
                <a:solidFill>
                  <a:srgbClr val="1B7F8C"/>
                </a:solidFill>
                <a:latin typeface="Calibri"/>
              </a:rPr>
              <a:t>Image</a:t>
            </a:r>
          </a:p>
        </p:txBody>
      </p:sp>
      <p:sp>
        <p:nvSpPr>
          <p:cNvPr id="13" name="TextBox 12"/>
          <p:cNvSpPr txBox="1"/>
          <p:nvPr/>
        </p:nvSpPr>
        <p:spPr>
          <a:xfrm>
            <a:off x="6400800" y="2057400"/>
            <a:ext cx="2148840" cy="960120"/>
          </a:xfrm>
          <a:prstGeom prst="rect">
            <a:avLst/>
          </a:prstGeom>
          <a:noFill/>
        </p:spPr>
        <p:txBody>
          <a:bodyPr wrap="square" lIns="0" rIns="0" tIns="0" bIns="0" anchor="t">
            <a:spAutoFit/>
          </a:bodyPr>
          <a:lstStyle/>
          <a:p>
            <a:pPr algn="l"/>
            <a:r>
              <a:rPr sz="1400" b="0" i="0">
                <a:solidFill>
                  <a:srgbClr val="1F2933"/>
                </a:solidFill>
                <a:latin typeface="Calibri"/>
              </a:rPr>
              <a:t>GitHub Container Registry</a:t>
            </a:r>
          </a:p>
        </p:txBody>
      </p:sp>
      <p:sp>
        <p:nvSpPr>
          <p:cNvPr id="14" name="Arrow 3"/>
          <p:cNvSpPr txBox="1"/>
          <p:nvPr/>
        </p:nvSpPr>
        <p:spPr>
          <a:xfrm>
            <a:off x="8732520" y="2011680"/>
            <a:ext cx="320040" cy="457200"/>
          </a:xfrm>
          <a:prstGeom prst="rect">
            <a:avLst/>
          </a:prstGeom>
          <a:noFill/>
        </p:spPr>
        <p:txBody>
          <a:bodyPr wrap="square" lIns="0" rIns="0" tIns="0" bIns="0" anchor="t">
            <a:spAutoFit/>
          </a:bodyPr>
          <a:lstStyle/>
          <a:p>
            <a:pPr algn="ctr"/>
            <a:r>
              <a:rPr sz="2400" b="1" i="0">
                <a:solidFill>
                  <a:srgbClr val="F4A83A"/>
                </a:solidFill>
                <a:latin typeface="Calibri"/>
              </a:rPr>
              <a:t>&gt;</a:t>
            </a:r>
          </a:p>
        </p:txBody>
      </p:sp>
      <p:sp>
        <p:nvSpPr>
          <p:cNvPr id="15" name="Deploy step 4"/>
          <p:cNvSpPr/>
          <p:nvPr/>
        </p:nvSpPr>
        <p:spPr>
          <a:xfrm>
            <a:off x="9052560" y="1508760"/>
            <a:ext cx="2514600" cy="15544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627632"/>
            <a:ext cx="2148840" cy="365760"/>
          </a:xfrm>
          <a:prstGeom prst="rect">
            <a:avLst/>
          </a:prstGeom>
          <a:noFill/>
        </p:spPr>
        <p:txBody>
          <a:bodyPr wrap="square" lIns="0" rIns="0" tIns="0" bIns="0" anchor="t">
            <a:spAutoFit/>
          </a:bodyPr>
          <a:lstStyle/>
          <a:p>
            <a:pPr algn="l"/>
            <a:r>
              <a:rPr sz="1800" b="1" i="0">
                <a:solidFill>
                  <a:srgbClr val="1B7F8C"/>
                </a:solidFill>
                <a:latin typeface="Calibri"/>
              </a:rPr>
              <a:t>Deploy</a:t>
            </a:r>
          </a:p>
        </p:txBody>
      </p:sp>
      <p:sp>
        <p:nvSpPr>
          <p:cNvPr id="17" name="TextBox 16"/>
          <p:cNvSpPr txBox="1"/>
          <p:nvPr/>
        </p:nvSpPr>
        <p:spPr>
          <a:xfrm>
            <a:off x="9235440" y="2057400"/>
            <a:ext cx="2148840" cy="960120"/>
          </a:xfrm>
          <a:prstGeom prst="rect">
            <a:avLst/>
          </a:prstGeom>
          <a:noFill/>
        </p:spPr>
        <p:txBody>
          <a:bodyPr wrap="square" lIns="0" rIns="0" tIns="0" bIns="0" anchor="t">
            <a:spAutoFit/>
          </a:bodyPr>
          <a:lstStyle/>
          <a:p>
            <a:pPr algn="l"/>
            <a:r>
              <a:rPr sz="1400" b="0" i="0">
                <a:solidFill>
                  <a:srgbClr val="1F2933"/>
                </a:solidFill>
                <a:latin typeface="Calibri"/>
              </a:rPr>
              <a:t>Azure Container Apps + Streamlit Cloud</a:t>
            </a:r>
          </a:p>
        </p:txBody>
      </p:sp>
      <p:sp>
        <p:nvSpPr>
          <p:cNvPr id="18" name="Monitor step 1"/>
          <p:cNvSpPr/>
          <p:nvPr/>
        </p:nvSpPr>
        <p:spPr>
          <a:xfrm>
            <a:off x="548640" y="3474720"/>
            <a:ext cx="2514600" cy="1554480"/>
          </a:xfrm>
          <a:prstGeom prst="roundRect">
            <a:avLst>
              <a:gd name="adj" fmla="val 6000"/>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593592"/>
            <a:ext cx="2148840" cy="365760"/>
          </a:xfrm>
          <a:prstGeom prst="rect">
            <a:avLst/>
          </a:prstGeom>
          <a:noFill/>
        </p:spPr>
        <p:txBody>
          <a:bodyPr wrap="square" lIns="0" rIns="0" tIns="0" bIns="0" anchor="t">
            <a:spAutoFit/>
          </a:bodyPr>
          <a:lstStyle/>
          <a:p>
            <a:pPr algn="l"/>
            <a:r>
              <a:rPr sz="1800" b="1" i="0">
                <a:solidFill>
                  <a:srgbClr val="F4A83A"/>
                </a:solidFill>
                <a:latin typeface="Calibri"/>
              </a:rPr>
              <a:t>Weekly monitor</a:t>
            </a:r>
          </a:p>
        </p:txBody>
      </p:sp>
      <p:sp>
        <p:nvSpPr>
          <p:cNvPr id="20" name="TextBox 19"/>
          <p:cNvSpPr txBox="1"/>
          <p:nvPr/>
        </p:nvSpPr>
        <p:spPr>
          <a:xfrm>
            <a:off x="731520" y="4023360"/>
            <a:ext cx="2148840" cy="960120"/>
          </a:xfrm>
          <a:prstGeom prst="rect">
            <a:avLst/>
          </a:prstGeom>
          <a:noFill/>
        </p:spPr>
        <p:txBody>
          <a:bodyPr wrap="square" lIns="0" rIns="0" tIns="0" bIns="0" anchor="t">
            <a:spAutoFit/>
          </a:bodyPr>
          <a:lstStyle/>
          <a:p>
            <a:pPr algn="l"/>
            <a:r>
              <a:rPr sz="1400" b="0" i="0">
                <a:solidFill>
                  <a:srgbClr val="FFFFFF"/>
                </a:solidFill>
                <a:latin typeface="Calibri"/>
              </a:rPr>
              <a:t>fresh ads vs training data: PSI, KS test, live MAPE</a:t>
            </a:r>
          </a:p>
        </p:txBody>
      </p:sp>
      <p:sp>
        <p:nvSpPr>
          <p:cNvPr id="21" name="Arrow 5"/>
          <p:cNvSpPr txBox="1"/>
          <p:nvPr/>
        </p:nvSpPr>
        <p:spPr>
          <a:xfrm>
            <a:off x="3063240" y="3977639"/>
            <a:ext cx="320040" cy="457200"/>
          </a:xfrm>
          <a:prstGeom prst="rect">
            <a:avLst/>
          </a:prstGeom>
          <a:noFill/>
        </p:spPr>
        <p:txBody>
          <a:bodyPr wrap="square" lIns="0" rIns="0" tIns="0" bIns="0" anchor="t">
            <a:spAutoFit/>
          </a:bodyPr>
          <a:lstStyle/>
          <a:p>
            <a:pPr algn="ctr"/>
            <a:r>
              <a:rPr sz="2400" b="1" i="0">
                <a:solidFill>
                  <a:srgbClr val="F4A83A"/>
                </a:solidFill>
                <a:latin typeface="Calibri"/>
              </a:rPr>
              <a:t>&gt;</a:t>
            </a:r>
          </a:p>
        </p:txBody>
      </p:sp>
      <p:sp>
        <p:nvSpPr>
          <p:cNvPr id="22" name="Monitor step 2"/>
          <p:cNvSpPr/>
          <p:nvPr/>
        </p:nvSpPr>
        <p:spPr>
          <a:xfrm>
            <a:off x="3383280" y="3474720"/>
            <a:ext cx="2514600" cy="1554480"/>
          </a:xfrm>
          <a:prstGeom prst="roundRect">
            <a:avLst>
              <a:gd name="adj" fmla="val 6000"/>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66160" y="3593592"/>
            <a:ext cx="2148840" cy="365760"/>
          </a:xfrm>
          <a:prstGeom prst="rect">
            <a:avLst/>
          </a:prstGeom>
          <a:noFill/>
        </p:spPr>
        <p:txBody>
          <a:bodyPr wrap="square" lIns="0" rIns="0" tIns="0" bIns="0" anchor="t">
            <a:spAutoFit/>
          </a:bodyPr>
          <a:lstStyle/>
          <a:p>
            <a:pPr algn="l"/>
            <a:r>
              <a:rPr sz="1800" b="1" i="0">
                <a:solidFill>
                  <a:srgbClr val="F4A83A"/>
                </a:solidFill>
                <a:latin typeface="Calibri"/>
              </a:rPr>
              <a:t>Drift?</a:t>
            </a:r>
          </a:p>
        </p:txBody>
      </p:sp>
      <p:sp>
        <p:nvSpPr>
          <p:cNvPr id="24" name="TextBox 23"/>
          <p:cNvSpPr txBox="1"/>
          <p:nvPr/>
        </p:nvSpPr>
        <p:spPr>
          <a:xfrm>
            <a:off x="3566160" y="4023360"/>
            <a:ext cx="2148840" cy="960120"/>
          </a:xfrm>
          <a:prstGeom prst="rect">
            <a:avLst/>
          </a:prstGeom>
          <a:noFill/>
        </p:spPr>
        <p:txBody>
          <a:bodyPr wrap="square" lIns="0" rIns="0" tIns="0" bIns="0" anchor="t">
            <a:spAutoFit/>
          </a:bodyPr>
          <a:lstStyle/>
          <a:p>
            <a:pPr algn="l"/>
            <a:r>
              <a:rPr sz="1400" b="0" i="0">
                <a:solidFill>
                  <a:srgbClr val="FFFFFF"/>
                </a:solidFill>
                <a:latin typeface="Calibri"/>
              </a:rPr>
              <a:t>if yes, retrain a challenger on old + fresh data</a:t>
            </a:r>
          </a:p>
        </p:txBody>
      </p:sp>
      <p:sp>
        <p:nvSpPr>
          <p:cNvPr id="25" name="Arrow 6"/>
          <p:cNvSpPr txBox="1"/>
          <p:nvPr/>
        </p:nvSpPr>
        <p:spPr>
          <a:xfrm>
            <a:off x="5897880" y="3977639"/>
            <a:ext cx="320040" cy="457200"/>
          </a:xfrm>
          <a:prstGeom prst="rect">
            <a:avLst/>
          </a:prstGeom>
          <a:noFill/>
        </p:spPr>
        <p:txBody>
          <a:bodyPr wrap="square" lIns="0" rIns="0" tIns="0" bIns="0" anchor="t">
            <a:spAutoFit/>
          </a:bodyPr>
          <a:lstStyle/>
          <a:p>
            <a:pPr algn="ctr"/>
            <a:r>
              <a:rPr sz="2400" b="1" i="0">
                <a:solidFill>
                  <a:srgbClr val="F4A83A"/>
                </a:solidFill>
                <a:latin typeface="Calibri"/>
              </a:rPr>
              <a:t>&gt;</a:t>
            </a:r>
          </a:p>
        </p:txBody>
      </p:sp>
      <p:sp>
        <p:nvSpPr>
          <p:cNvPr id="26" name="Monitor step 3"/>
          <p:cNvSpPr/>
          <p:nvPr/>
        </p:nvSpPr>
        <p:spPr>
          <a:xfrm>
            <a:off x="6217920" y="3474720"/>
            <a:ext cx="2514600" cy="1554480"/>
          </a:xfrm>
          <a:prstGeom prst="roundRect">
            <a:avLst>
              <a:gd name="adj" fmla="val 6000"/>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593592"/>
            <a:ext cx="2148840" cy="365760"/>
          </a:xfrm>
          <a:prstGeom prst="rect">
            <a:avLst/>
          </a:prstGeom>
          <a:noFill/>
        </p:spPr>
        <p:txBody>
          <a:bodyPr wrap="square" lIns="0" rIns="0" tIns="0" bIns="0" anchor="t">
            <a:spAutoFit/>
          </a:bodyPr>
          <a:lstStyle/>
          <a:p>
            <a:pPr algn="l"/>
            <a:r>
              <a:rPr sz="1800" b="1" i="0">
                <a:solidFill>
                  <a:srgbClr val="F4A83A"/>
                </a:solidFill>
                <a:latin typeface="Calibri"/>
              </a:rPr>
              <a:t>Quality gate</a:t>
            </a:r>
          </a:p>
        </p:txBody>
      </p:sp>
      <p:sp>
        <p:nvSpPr>
          <p:cNvPr id="28" name="TextBox 27"/>
          <p:cNvSpPr txBox="1"/>
          <p:nvPr/>
        </p:nvSpPr>
        <p:spPr>
          <a:xfrm>
            <a:off x="6400800" y="4023360"/>
            <a:ext cx="2148840" cy="960120"/>
          </a:xfrm>
          <a:prstGeom prst="rect">
            <a:avLst/>
          </a:prstGeom>
          <a:noFill/>
        </p:spPr>
        <p:txBody>
          <a:bodyPr wrap="square" lIns="0" rIns="0" tIns="0" bIns="0" anchor="t">
            <a:spAutoFit/>
          </a:bodyPr>
          <a:lstStyle/>
          <a:p>
            <a:pPr algn="l"/>
            <a:r>
              <a:rPr sz="1400" b="0" i="0">
                <a:solidFill>
                  <a:srgbClr val="FFFFFF"/>
                </a:solidFill>
                <a:latin typeface="Calibri"/>
              </a:rPr>
              <a:t>challenger vs champion on ads neither has seen</a:t>
            </a:r>
          </a:p>
        </p:txBody>
      </p:sp>
      <p:sp>
        <p:nvSpPr>
          <p:cNvPr id="29" name="Arrow 7"/>
          <p:cNvSpPr txBox="1"/>
          <p:nvPr/>
        </p:nvSpPr>
        <p:spPr>
          <a:xfrm>
            <a:off x="8732520" y="3977639"/>
            <a:ext cx="320040" cy="457200"/>
          </a:xfrm>
          <a:prstGeom prst="rect">
            <a:avLst/>
          </a:prstGeom>
          <a:noFill/>
        </p:spPr>
        <p:txBody>
          <a:bodyPr wrap="square" lIns="0" rIns="0" tIns="0" bIns="0" anchor="t">
            <a:spAutoFit/>
          </a:bodyPr>
          <a:lstStyle/>
          <a:p>
            <a:pPr algn="ctr"/>
            <a:r>
              <a:rPr sz="2400" b="1" i="0">
                <a:solidFill>
                  <a:srgbClr val="F4A83A"/>
                </a:solidFill>
                <a:latin typeface="Calibri"/>
              </a:rPr>
              <a:t>&gt;</a:t>
            </a:r>
          </a:p>
        </p:txBody>
      </p:sp>
      <p:sp>
        <p:nvSpPr>
          <p:cNvPr id="30" name="Monitor step 4"/>
          <p:cNvSpPr/>
          <p:nvPr/>
        </p:nvSpPr>
        <p:spPr>
          <a:xfrm>
            <a:off x="9052560" y="3474720"/>
            <a:ext cx="2514600" cy="1554480"/>
          </a:xfrm>
          <a:prstGeom prst="roundRect">
            <a:avLst>
              <a:gd name="adj" fmla="val 6000"/>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0" y="3593592"/>
            <a:ext cx="2148840" cy="365760"/>
          </a:xfrm>
          <a:prstGeom prst="rect">
            <a:avLst/>
          </a:prstGeom>
          <a:noFill/>
        </p:spPr>
        <p:txBody>
          <a:bodyPr wrap="square" lIns="0" rIns="0" tIns="0" bIns="0" anchor="t">
            <a:spAutoFit/>
          </a:bodyPr>
          <a:lstStyle/>
          <a:p>
            <a:pPr algn="l"/>
            <a:r>
              <a:rPr sz="1800" b="1" i="0">
                <a:solidFill>
                  <a:srgbClr val="F4A83A"/>
                </a:solidFill>
                <a:latin typeface="Calibri"/>
              </a:rPr>
              <a:t>Pull request</a:t>
            </a:r>
          </a:p>
        </p:txBody>
      </p:sp>
      <p:sp>
        <p:nvSpPr>
          <p:cNvPr id="32" name="TextBox 31"/>
          <p:cNvSpPr txBox="1"/>
          <p:nvPr/>
        </p:nvSpPr>
        <p:spPr>
          <a:xfrm>
            <a:off x="9235440" y="4023360"/>
            <a:ext cx="2148840" cy="960120"/>
          </a:xfrm>
          <a:prstGeom prst="rect">
            <a:avLst/>
          </a:prstGeom>
          <a:noFill/>
        </p:spPr>
        <p:txBody>
          <a:bodyPr wrap="square" lIns="0" rIns="0" tIns="0" bIns="0" anchor="t">
            <a:spAutoFit/>
          </a:bodyPr>
          <a:lstStyle/>
          <a:p>
            <a:pPr algn="l"/>
            <a:r>
              <a:rPr sz="1400" b="0" i="0">
                <a:solidFill>
                  <a:srgbClr val="FFFFFF"/>
                </a:solidFill>
                <a:latin typeface="Calibri"/>
              </a:rPr>
              <a:t>a human approves, merge redeploys</a:t>
            </a:r>
          </a:p>
        </p:txBody>
      </p:sp>
      <p:sp>
        <p:nvSpPr>
          <p:cNvPr id="33" name="TextBox 32"/>
          <p:cNvSpPr txBox="1"/>
          <p:nvPr/>
        </p:nvSpPr>
        <p:spPr>
          <a:xfrm>
            <a:off x="548640" y="5349240"/>
            <a:ext cx="11091672" cy="822960"/>
          </a:xfrm>
          <a:prstGeom prst="rect">
            <a:avLst/>
          </a:prstGeom>
          <a:noFill/>
        </p:spPr>
        <p:txBody>
          <a:bodyPr wrap="square" lIns="0" rIns="0" tIns="0" bIns="0" anchor="t">
            <a:spAutoFit/>
          </a:bodyPr>
          <a:lstStyle/>
          <a:p>
            <a:pPr algn="l"/>
            <a:r>
              <a:rPr sz="1500" b="0" i="0">
                <a:solidFill>
                  <a:srgbClr val="1F2933"/>
                </a:solidFill>
                <a:latin typeface="Calibri"/>
              </a:rPr>
              <a:t>On 200 fresh ads the live model scored MAPE 9.4% with no drift. In a retrain test the challenger beat the champion (log-RMSE 0.1285 vs 0.1305) and was promoted. Azure runs at about zero cost thanks to scale-to-zero.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itle"/>
          <p:cNvSpPr txBox="1"/>
          <p:nvPr/>
        </p:nvSpPr>
        <p:spPr>
          <a:xfrm>
            <a:off x="548640" y="365760"/>
            <a:ext cx="11094415" cy="868680"/>
          </a:xfrm>
          <a:prstGeom prst="rect">
            <a:avLst/>
          </a:prstGeom>
          <a:noFill/>
        </p:spPr>
        <p:txBody>
          <a:bodyPr wrap="square" lIns="0" rIns="0" tIns="0" bIns="0" anchor="ctr">
            <a:spAutoFit/>
          </a:bodyPr>
          <a:lstStyle/>
          <a:p>
            <a:pPr algn="l"/>
            <a:r>
              <a:rPr sz="3200" b="1" i="0">
                <a:solidFill>
                  <a:srgbClr val="0F2A43"/>
                </a:solidFill>
                <a:latin typeface="Cambria"/>
              </a:rPr>
              <a:t>Live demo, limits and next steps</a:t>
            </a:r>
          </a:p>
        </p:txBody>
      </p:sp>
      <p:sp>
        <p:nvSpPr>
          <p:cNvPr id="3" name="App card"/>
          <p:cNvSpPr/>
          <p:nvPr/>
        </p:nvSpPr>
        <p:spPr>
          <a:xfrm>
            <a:off x="548640" y="1417320"/>
            <a:ext cx="5852160" cy="47548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Streamlit app: inputs and predicted price" descr="Streamlit app: inputs and predicted price"/>
          <p:cNvPicPr>
            <a:picLocks noChangeAspect="1"/>
          </p:cNvPicPr>
          <p:nvPr/>
        </p:nvPicPr>
        <p:blipFill>
          <a:blip r:embed="rId2"/>
          <a:stretch>
            <a:fillRect/>
          </a:stretch>
        </p:blipFill>
        <p:spPr>
          <a:xfrm>
            <a:off x="640080" y="1508760"/>
            <a:ext cx="5669280" cy="3798902"/>
          </a:xfrm>
          <a:prstGeom prst="rect">
            <a:avLst/>
          </a:prstGeom>
        </p:spPr>
      </p:pic>
      <p:sp>
        <p:nvSpPr>
          <p:cNvPr id="5" name="Held-out car"/>
          <p:cNvSpPr/>
          <p:nvPr/>
        </p:nvSpPr>
        <p:spPr>
          <a:xfrm>
            <a:off x="6675120" y="1417320"/>
            <a:ext cx="4965192" cy="160020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03720" y="1508760"/>
            <a:ext cx="4526280" cy="365760"/>
          </a:xfrm>
          <a:prstGeom prst="rect">
            <a:avLst/>
          </a:prstGeom>
          <a:noFill/>
        </p:spPr>
        <p:txBody>
          <a:bodyPr wrap="square" lIns="0" rIns="0" tIns="0" bIns="0" anchor="t">
            <a:spAutoFit/>
          </a:bodyPr>
          <a:lstStyle/>
          <a:p>
            <a:pPr algn="l"/>
            <a:r>
              <a:rPr sz="1500" b="1" i="0">
                <a:solidFill>
                  <a:srgbClr val="0F2A43"/>
                </a:solidFill>
                <a:latin typeface="Calibri"/>
              </a:rPr>
              <a:t>Held-out test car: Daihatsu Mira 2026</a:t>
            </a:r>
          </a:p>
        </p:txBody>
      </p:sp>
      <p:sp>
        <p:nvSpPr>
          <p:cNvPr id="7" name="TextBox 6"/>
          <p:cNvSpPr txBox="1"/>
          <p:nvPr/>
        </p:nvSpPr>
        <p:spPr>
          <a:xfrm>
            <a:off x="6903720" y="1920240"/>
            <a:ext cx="4526280" cy="548640"/>
          </a:xfrm>
          <a:prstGeom prst="rect">
            <a:avLst/>
          </a:prstGeom>
          <a:noFill/>
        </p:spPr>
        <p:txBody>
          <a:bodyPr wrap="square" lIns="0" rIns="0" tIns="0" bIns="0" anchor="t">
            <a:spAutoFit/>
          </a:bodyPr>
          <a:lstStyle/>
          <a:p>
            <a:pPr algn="l"/>
            <a:r>
              <a:rPr sz="3200" b="1" i="0">
                <a:solidFill>
                  <a:srgbClr val="1B7F8C"/>
                </a:solidFill>
                <a:latin typeface="Cambria"/>
              </a:rPr>
              <a:t>−0.6% error</a:t>
            </a:r>
          </a:p>
        </p:txBody>
      </p:sp>
      <p:sp>
        <p:nvSpPr>
          <p:cNvPr id="8" name="TextBox 7"/>
          <p:cNvSpPr txBox="1"/>
          <p:nvPr/>
        </p:nvSpPr>
        <p:spPr>
          <a:xfrm>
            <a:off x="6903720" y="2514600"/>
            <a:ext cx="4526280" cy="411480"/>
          </a:xfrm>
          <a:prstGeom prst="rect">
            <a:avLst/>
          </a:prstGeom>
          <a:noFill/>
        </p:spPr>
        <p:txBody>
          <a:bodyPr wrap="square" lIns="0" rIns="0" tIns="0" bIns="0" anchor="t">
            <a:spAutoFit/>
          </a:bodyPr>
          <a:lstStyle/>
          <a:p>
            <a:pPr algn="l"/>
            <a:r>
              <a:rPr sz="1400" b="0" i="0">
                <a:solidFill>
                  <a:srgbClr val="1F2933"/>
                </a:solidFill>
                <a:latin typeface="Calibri"/>
              </a:rPr>
              <a:t>Predicted LKR 7.43M vs actual LKR 7.48M</a:t>
            </a:r>
          </a:p>
        </p:txBody>
      </p:sp>
      <p:sp>
        <p:nvSpPr>
          <p:cNvPr id="9" name="Limits"/>
          <p:cNvSpPr/>
          <p:nvPr/>
        </p:nvSpPr>
        <p:spPr>
          <a:xfrm>
            <a:off x="6675120" y="3200400"/>
            <a:ext cx="4965192" cy="1325880"/>
          </a:xfrm>
          <a:prstGeom prst="roundRect">
            <a:avLst>
              <a:gd name="adj" fmla="val 6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3291840"/>
            <a:ext cx="4526280" cy="365760"/>
          </a:xfrm>
          <a:prstGeom prst="rect">
            <a:avLst/>
          </a:prstGeom>
          <a:noFill/>
        </p:spPr>
        <p:txBody>
          <a:bodyPr wrap="square" lIns="0" rIns="0" tIns="0" bIns="0" anchor="t">
            <a:spAutoFit/>
          </a:bodyPr>
          <a:lstStyle/>
          <a:p>
            <a:pPr algn="l"/>
            <a:r>
              <a:rPr sz="1500" b="1" i="0">
                <a:solidFill>
                  <a:srgbClr val="0F2A43"/>
                </a:solidFill>
                <a:latin typeface="Calibri"/>
              </a:rPr>
              <a:t>Limits</a:t>
            </a:r>
          </a:p>
        </p:txBody>
      </p:sp>
      <p:sp>
        <p:nvSpPr>
          <p:cNvPr id="11" name="TextBox 10"/>
          <p:cNvSpPr txBox="1"/>
          <p:nvPr/>
        </p:nvSpPr>
        <p:spPr>
          <a:xfrm>
            <a:off x="6903720" y="3703320"/>
            <a:ext cx="4526280" cy="777240"/>
          </a:xfrm>
          <a:prstGeom prst="rect">
            <a:avLst/>
          </a:prstGeom>
          <a:noFill/>
        </p:spPr>
        <p:txBody>
          <a:bodyPr wrap="square" lIns="0" rIns="0" tIns="0" bIns="0" anchor="t">
            <a:spAutoFit/>
          </a:bodyPr>
          <a:lstStyle/>
          <a:p>
            <a:pPr algn="l"/>
            <a:r>
              <a:rPr sz="1400" b="0" i="0">
                <a:solidFill>
                  <a:srgbClr val="1F2933"/>
                </a:solidFill>
                <a:latin typeface="Calibri"/>
              </a:rPr>
              <a:t>Asking prices, one website, 3,000 ads, few comparables for rare cars</a:t>
            </a:r>
          </a:p>
        </p:txBody>
      </p:sp>
      <p:sp>
        <p:nvSpPr>
          <p:cNvPr id="12" name="Next steps"/>
          <p:cNvSpPr/>
          <p:nvPr/>
        </p:nvSpPr>
        <p:spPr>
          <a:xfrm>
            <a:off x="6675120" y="4709160"/>
            <a:ext cx="4965192" cy="1463040"/>
          </a:xfrm>
          <a:prstGeom prst="roundRect">
            <a:avLst>
              <a:gd name="adj" fmla="val 6000"/>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ive demo link"/>
          <p:cNvSpPr txBox="1"/>
          <p:nvPr/>
        </p:nvSpPr>
        <p:spPr>
          <a:xfrm>
            <a:off x="548640" y="6263640"/>
            <a:ext cx="11091672" cy="365760"/>
          </a:xfrm>
          <a:prstGeom prst="rect">
            <a:avLst/>
          </a:prstGeom>
          <a:noFill/>
        </p:spPr>
        <p:txBody>
          <a:bodyPr wrap="square" lIns="0" rIns="0" tIns="0" bIns="0" anchor="t">
            <a:spAutoFit/>
          </a:bodyPr>
          <a:lstStyle/>
          <a:p>
            <a:pPr algn="l"/>
            <a:r>
              <a:rPr sz="1200" b="0" i="0">
                <a:solidFill>
                  <a:srgbClr val="5B6B7A"/>
                </a:solidFill>
                <a:latin typeface="Calibri"/>
              </a:rPr>
              <a:t>Live demo (Azure): https://car-price-app.bluemeadow-a6e43a1f.malaysiawest.azurecontainerapps.io</a:t>
            </a:r>
          </a:p>
        </p:txBody>
      </p:sp>
      <p:sp>
        <p:nvSpPr>
          <p:cNvPr id="14" name="TextBox 13"/>
          <p:cNvSpPr txBox="1"/>
          <p:nvPr/>
        </p:nvSpPr>
        <p:spPr>
          <a:xfrm>
            <a:off x="6903720" y="4800600"/>
            <a:ext cx="4526280" cy="365760"/>
          </a:xfrm>
          <a:prstGeom prst="rect">
            <a:avLst/>
          </a:prstGeom>
          <a:noFill/>
        </p:spPr>
        <p:txBody>
          <a:bodyPr wrap="square" lIns="0" rIns="0" tIns="0" bIns="0" anchor="t">
            <a:spAutoFit/>
          </a:bodyPr>
          <a:lstStyle/>
          <a:p>
            <a:pPr algn="l"/>
            <a:r>
              <a:rPr sz="1500" b="1" i="0">
                <a:solidFill>
                  <a:srgbClr val="F4A83A"/>
                </a:solidFill>
                <a:latin typeface="Calibri"/>
              </a:rPr>
              <a:t>Next steps</a:t>
            </a:r>
          </a:p>
        </p:txBody>
      </p:sp>
      <p:sp>
        <p:nvSpPr>
          <p:cNvPr id="15" name="TextBox 14"/>
          <p:cNvSpPr txBox="1"/>
          <p:nvPr/>
        </p:nvSpPr>
        <p:spPr>
          <a:xfrm>
            <a:off x="6903720" y="5212080"/>
            <a:ext cx="4526280" cy="914400"/>
          </a:xfrm>
          <a:prstGeom prst="rect">
            <a:avLst/>
          </a:prstGeom>
          <a:noFill/>
        </p:spPr>
        <p:txBody>
          <a:bodyPr wrap="square" lIns="0" rIns="0" tIns="0" bIns="0" anchor="t">
            <a:spAutoFit/>
          </a:bodyPr>
          <a:lstStyle/>
          <a:p>
            <a:pPr algn="l"/>
            <a:r>
              <a:rPr sz="1400" b="0" i="0">
                <a:solidFill>
                  <a:srgbClr val="FFFFFF"/>
                </a:solidFill>
                <a:latin typeface="Calibri"/>
              </a:rPr>
              <a:t>Add time-series for market drift, more data sources, and prediction logging on Azure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