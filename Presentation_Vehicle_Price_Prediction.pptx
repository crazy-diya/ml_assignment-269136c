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Average % error (MAPE)</c:v>
                </c:pt>
              </c:strCache>
            </c:strRef>
          </c:tx>
          <c:dPt>
            <c:idx val="0"/>
            <c:spPr>
              <a:solidFill>
                <a:srgbClr val="F4A83A"/>
              </a:solidFill>
            </c:spPr>
          </c:dPt>
          <c:dPt>
            <c:idx val="1"/>
            <c:spPr>
              <a:solidFill>
                <a:srgbClr val="1B7F8C"/>
              </a:solidFill>
            </c:spPr>
          </c:dPt>
          <c:dPt>
            <c:idx val="2"/>
            <c:spPr>
              <a:solidFill>
                <a:srgbClr val="1B7F8C"/>
              </a:solidFill>
            </c:spPr>
          </c:dPt>
          <c:dPt>
            <c:idx val="3"/>
            <c:spPr>
              <a:solidFill>
                <a:srgbClr val="1B7F8C"/>
              </a:solidFill>
            </c:spPr>
          </c:dPt>
          <c:dPt>
            <c:idx val="4"/>
            <c:spPr>
              <a:solidFill>
                <a:srgbClr val="1B7F8C"/>
              </a:solidFill>
            </c:spPr>
          </c:dPt>
          <c:dPt>
            <c:idx val="5"/>
            <c:spPr>
              <a:solidFill>
                <a:srgbClr val="1B7F8C"/>
              </a:solidFill>
            </c:spPr>
          </c:dPt>
          <c:dPt>
            <c:idx val="6"/>
            <c:spPr>
              <a:solidFill>
                <a:srgbClr val="1B7F8C"/>
              </a:solidFill>
            </c:spPr>
          </c:dPt>
          <c:dPt>
            <c:idx val="7"/>
            <c:spPr>
              <a:solidFill>
                <a:srgbClr val="9CA9B6"/>
              </a:solidFill>
            </c:spPr>
          </c:dPt>
          <c:dPt>
            <c:idx val="8"/>
            <c:spPr>
              <a:solidFill>
                <a:srgbClr val="9CA9B6"/>
              </a:solidFill>
            </c:spPr>
          </c:dPt>
          <c:cat>
            <c:strRef>
              <c:f>Sheet1!$A$2:$A$10</c:f>
              <c:strCache>
                <c:ptCount val="9"/>
                <c:pt idx="0">
                  <c:v>Stacking</c:v>
                </c:pt>
                <c:pt idx="1">
                  <c:v>Voting</c:v>
                </c:pt>
                <c:pt idx="2">
                  <c:v>CatBoost</c:v>
                </c:pt>
                <c:pt idx="3">
                  <c:v>LightGBM</c:v>
                </c:pt>
                <c:pt idx="4">
                  <c:v>XGBoost</c:v>
                </c:pt>
                <c:pt idx="5">
                  <c:v>Gradient Boosting</c:v>
                </c:pt>
                <c:pt idx="6">
                  <c:v>Random Forest</c:v>
                </c:pt>
                <c:pt idx="7">
                  <c:v>Ridge (baseline)</c:v>
                </c:pt>
                <c:pt idx="8">
                  <c:v>Decision Tree (baseline)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12.6</c:v>
                </c:pt>
                <c:pt idx="1">
                  <c:v>12.8</c:v>
                </c:pt>
                <c:pt idx="2">
                  <c:v>13.1</c:v>
                </c:pt>
                <c:pt idx="3">
                  <c:v>14.0</c:v>
                </c:pt>
                <c:pt idx="4">
                  <c:v>14.5</c:v>
                </c:pt>
                <c:pt idx="5">
                  <c:v>14.7</c:v>
                </c:pt>
                <c:pt idx="6">
                  <c:v>15.9</c:v>
                </c:pt>
                <c:pt idx="7">
                  <c:v>16.7</c:v>
                </c:pt>
                <c:pt idx="8">
                  <c:v>23.5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300" b="1">
                  <a:solidFill>
                    <a:srgbClr val="1F2933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DE3EA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7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300">
          <a:solidFill>
            <a:srgbClr val="1F2933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Hello, I'm Lakshan. I built a model that estimates the asking price of a car in Sri Lanka. The headline result: on cars the model never saw, the average error is about 12.6 percent.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a local problem. Since imports were restricted in 2020, used-car prices rose sharply and became hard to judge. Many cars are reconditioned Japanese imports, and hybrids and EVs are growing. The goal is a regression model that estimates the asking price in rupees.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 collected my own data from ikman.lk, Sri Lanka's biggest classifieds site, using a polite scraper that respects robots.txt. The target is the asking price, which is higher than the final sale price - I state that as a limitation.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Price is extremely skewed - a few luxury cars cost over 200 million rupees - so I train on log price, which also means the model optimises percentage error. Condition is the biggest divider, a uniquely Sri Lankan feature. And with 351 car models this is a high-cardinality categorical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 all errors are nulls. I found placeholder prices, a 595 million rupee BMW with a 1 cc electric engine, future model years and fake mileages. I used domain knowledge to decide what to drop, what to impute and what to keep - vintage Sunnys and luxury Porsches are real parts of the Sri Lankan market.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 compared two baselines, five tuned single models and two ensembles. The lecturer's rule was no defaults, so I designed each search space from how the algorithm works. Boosters use shallow trees and small learning rates because 2,400 noisy rows overfit easily; Random Forest can use deep trees because bagging reduces variance.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Ensembles beat the baselines by a wide margin: average error falls from 23.5 percent for a single tree to about 13 percent for the boosters, and R-squared in rupees rises from 0.74 to 0.91. CatBoost is the best single model. Stacking and CatBoost are almost tied on log error, so I don't oversell the stack - its gain shows in R-squared and rupee error.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model has trade-offs. Ridge is transparent but too simple for depreciation curves. Random Forest cannot predict beyond the price range it saw, so luxury cars are under-priced. CatBoost handles the many categories natively, which is why it won among single models. Stacking is the most complex for a small gain.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SHAP explains the whole model: engine size, age and mileage matter most, and the directions make sense - newer, lower-mileage and bigger-engine cars cost more. LIME explains one car: this Suzuki Alto is cheaper because of its small engine and manual gearbox. LIME on a 2007 Santa Fe revealed a mileage under 15,000 km - almost certainly a typo - so the explanation also works as a data-quality 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Here is the Streamlit app: pick the car's details, press Predict, and it returns an estimated price with a plus-or-minus 13 percent range. One car was kept out of all training; the model predicted 7.43 million against an actual 7.48 million - 0.6 percent off. Limits: asking prices, one website, 3,000 ads. Next: add a time-series component for market drift, more data sources, and MLOps deployment.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731520" y="1371600"/>
            <a:ext cx="694944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Cambria"/>
              </a:rPr>
              <a:t>Predicting Used-Car Prices in Sri Lanka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474720"/>
            <a:ext cx="65836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BFD7EA"/>
                </a:solidFill>
                <a:latin typeface="Calibri"/>
              </a:rPr>
              <a:t>Tuned boosting and stacking ensembles, explained with SHAP and LIME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029200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Lakshan B.D.  ·  Index 269136C  ·  Applied Machine Learning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440680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BFD7EA"/>
                </a:solidFill>
                <a:latin typeface="Calibri"/>
              </a:rPr>
              <a:t>github.com/crazy-diya/ML_Assignment-269136C</a:t>
            </a:r>
          </a:p>
        </p:txBody>
      </p:sp>
      <p:sp>
        <p:nvSpPr>
          <p:cNvPr id="6" name="Headline stat"/>
          <p:cNvSpPr/>
          <p:nvPr/>
        </p:nvSpPr>
        <p:spPr>
          <a:xfrm>
            <a:off x="8229600" y="1554480"/>
            <a:ext cx="3200400" cy="3200400"/>
          </a:xfrm>
          <a:prstGeom prst="ellipse">
            <a:avLst/>
          </a:prstGeom>
          <a:solidFill>
            <a:srgbClr val="F4A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0" y="2240280"/>
            <a:ext cx="320040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400" b="1" i="0">
                <a:solidFill>
                  <a:srgbClr val="0F2A43"/>
                </a:solidFill>
                <a:latin typeface="Cambria"/>
              </a:rPr>
              <a:t>12.6%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3383280"/>
            <a:ext cx="26517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0" i="0">
                <a:solidFill>
                  <a:srgbClr val="0F2A43"/>
                </a:solidFill>
                <a:latin typeface="Calibri"/>
              </a:rPr>
              <a:t>average price error on unseen cars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>
                <a:solidFill>
                  <a:srgbClr val="0F2A43"/>
                </a:solidFill>
                <a:latin typeface="Cambria"/>
              </a:rPr>
              <a:t>A local problem: nobody knows what a used car is worth</a:t>
            </a:r>
          </a:p>
        </p:txBody>
      </p:sp>
      <p:sp>
        <p:nvSpPr>
          <p:cNvPr id="3" name="Card 1"/>
          <p:cNvSpPr/>
          <p:nvPr/>
        </p:nvSpPr>
        <p:spPr>
          <a:xfrm>
            <a:off x="548640" y="1600200"/>
            <a:ext cx="676656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77240" y="1965960"/>
            <a:ext cx="640080" cy="640080"/>
          </a:xfrm>
          <a:prstGeom prst="ellipse">
            <a:avLst/>
          </a:prstGeom>
          <a:solidFill>
            <a:srgbClr val="F4A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0F2A43"/>
                </a:solidFill>
                <a:latin typeface="Cambria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91640" y="1783080"/>
            <a:ext cx="5394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0F2A43"/>
                </a:solidFill>
                <a:latin typeface="Calibri"/>
              </a:rPr>
              <a:t>Imports restricted since 2020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91640" y="2240280"/>
            <a:ext cx="5394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F2933"/>
                </a:solidFill>
                <a:latin typeface="Calibri"/>
              </a:rPr>
              <a:t>Prices jumped and became opaque, so buyers cannot judge a fair price.</a:t>
            </a:r>
          </a:p>
        </p:txBody>
      </p:sp>
      <p:sp>
        <p:nvSpPr>
          <p:cNvPr id="7" name="Card 2"/>
          <p:cNvSpPr/>
          <p:nvPr/>
        </p:nvSpPr>
        <p:spPr>
          <a:xfrm>
            <a:off x="548640" y="3154680"/>
            <a:ext cx="676656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77240" y="3520440"/>
            <a:ext cx="640080" cy="640080"/>
          </a:xfrm>
          <a:prstGeom prst="ellipse">
            <a:avLst/>
          </a:prstGeom>
          <a:solidFill>
            <a:srgbClr val="F4A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0F2A43"/>
                </a:solidFill>
                <a:latin typeface="Cambria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3337560"/>
            <a:ext cx="5394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0F2A43"/>
                </a:solidFill>
                <a:latin typeface="Calibri"/>
              </a:rPr>
              <a:t>Reconditioned Japanese imports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3794760"/>
            <a:ext cx="5394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F2933"/>
                </a:solidFill>
                <a:latin typeface="Calibri"/>
              </a:rPr>
              <a:t>A category found almost nowhere else, priced between Used and Brand New.</a:t>
            </a:r>
          </a:p>
        </p:txBody>
      </p:sp>
      <p:sp>
        <p:nvSpPr>
          <p:cNvPr id="11" name="Card 3"/>
          <p:cNvSpPr/>
          <p:nvPr/>
        </p:nvSpPr>
        <p:spPr>
          <a:xfrm>
            <a:off x="548640" y="4709160"/>
            <a:ext cx="676656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77240" y="5074920"/>
            <a:ext cx="640080" cy="640080"/>
          </a:xfrm>
          <a:prstGeom prst="ellipse">
            <a:avLst/>
          </a:prstGeom>
          <a:solidFill>
            <a:srgbClr val="F4A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0F2A43"/>
                </a:solidFill>
                <a:latin typeface="Cambria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91640" y="4892040"/>
            <a:ext cx="5394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0F2A43"/>
                </a:solidFill>
                <a:latin typeface="Calibri"/>
              </a:rPr>
              <a:t>Hybrids and EVs are growing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5349240"/>
            <a:ext cx="5394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F2933"/>
                </a:solidFill>
                <a:latin typeface="Calibri"/>
              </a:rPr>
              <a:t>Fuel-price shocks changed what a fair price looks like.</a:t>
            </a:r>
          </a:p>
        </p:txBody>
      </p:sp>
      <p:sp>
        <p:nvSpPr>
          <p:cNvPr id="15" name="Goal card"/>
          <p:cNvSpPr/>
          <p:nvPr/>
        </p:nvSpPr>
        <p:spPr>
          <a:xfrm>
            <a:off x="7680960" y="1600200"/>
            <a:ext cx="3959352" cy="4480560"/>
          </a:xfrm>
          <a:prstGeom prst="roundRect">
            <a:avLst>
              <a:gd name="adj" fmla="val 6000"/>
            </a:avLst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01000" y="1874519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4A83A"/>
                </a:solidFill>
                <a:latin typeface="Calibri"/>
              </a:rPr>
              <a:t>THE GOAL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01000" y="2331720"/>
            <a:ext cx="338328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mbria"/>
              </a:rPr>
              <a:t>Estimate a car's asking price in LKR from its specification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01000" y="4526280"/>
            <a:ext cx="338328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F4A83A"/>
                </a:solidFill>
                <a:latin typeface="Calibri"/>
              </a:rPr>
              <a:t>Regression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BFD7EA"/>
                </a:solidFill>
                <a:latin typeface="Calibri"/>
              </a:rPr>
              <a:t>Tabular data, local Sri Lankan dataset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>
                <a:solidFill>
                  <a:srgbClr val="0F2A43"/>
                </a:solidFill>
                <a:latin typeface="Cambria"/>
              </a:rPr>
              <a:t>Data: 3,000 live ads collected from ikman.lk</a:t>
            </a:r>
          </a:p>
        </p:txBody>
      </p:sp>
      <p:sp>
        <p:nvSpPr>
          <p:cNvPr id="3" name="Stat 1"/>
          <p:cNvSpPr/>
          <p:nvPr/>
        </p:nvSpPr>
        <p:spPr>
          <a:xfrm>
            <a:off x="548640" y="1645920"/>
            <a:ext cx="265176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265176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800" b="1" i="0">
                <a:solidFill>
                  <a:srgbClr val="1B7F8C"/>
                </a:solidFill>
                <a:latin typeface="Cambria"/>
              </a:rPr>
              <a:t>3,000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834640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0" i="0">
                <a:solidFill>
                  <a:srgbClr val="1F2933"/>
                </a:solidFill>
                <a:latin typeface="Calibri"/>
              </a:rPr>
              <a:t>car advertisements</a:t>
            </a:r>
          </a:p>
        </p:txBody>
      </p:sp>
      <p:sp>
        <p:nvSpPr>
          <p:cNvPr id="6" name="Stat 2"/>
          <p:cNvSpPr/>
          <p:nvPr/>
        </p:nvSpPr>
        <p:spPr>
          <a:xfrm>
            <a:off x="3383280" y="1645920"/>
            <a:ext cx="265176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1828800"/>
            <a:ext cx="265176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800" b="1" i="0">
                <a:solidFill>
                  <a:srgbClr val="1B7F8C"/>
                </a:solidFill>
                <a:latin typeface="Cambria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66160" y="2834640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0" i="0">
                <a:solidFill>
                  <a:srgbClr val="1F2933"/>
                </a:solidFill>
                <a:latin typeface="Calibri"/>
              </a:rPr>
              <a:t>features per car</a:t>
            </a:r>
          </a:p>
        </p:txBody>
      </p:sp>
      <p:sp>
        <p:nvSpPr>
          <p:cNvPr id="9" name="Stat 3"/>
          <p:cNvSpPr/>
          <p:nvPr/>
        </p:nvSpPr>
        <p:spPr>
          <a:xfrm>
            <a:off x="6217920" y="1645920"/>
            <a:ext cx="265176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0" y="1828800"/>
            <a:ext cx="265176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800" b="1" i="0">
                <a:solidFill>
                  <a:srgbClr val="1B7F8C"/>
                </a:solidFill>
                <a:latin typeface="Cambria"/>
              </a:rPr>
              <a:t>351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834640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0" i="0">
                <a:solidFill>
                  <a:srgbClr val="1F2933"/>
                </a:solidFill>
                <a:latin typeface="Calibri"/>
              </a:rPr>
              <a:t>distinct car models</a:t>
            </a:r>
          </a:p>
        </p:txBody>
      </p:sp>
      <p:sp>
        <p:nvSpPr>
          <p:cNvPr id="12" name="Stat 4"/>
          <p:cNvSpPr/>
          <p:nvPr/>
        </p:nvSpPr>
        <p:spPr>
          <a:xfrm>
            <a:off x="9052560" y="1645920"/>
            <a:ext cx="265176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52560" y="1828800"/>
            <a:ext cx="265176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800" b="1" i="0">
                <a:solidFill>
                  <a:srgbClr val="1B7F8C"/>
                </a:solidFill>
                <a:latin typeface="Cambria"/>
              </a:rPr>
              <a:t>163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35440" y="2834640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0" i="0">
                <a:solidFill>
                  <a:srgbClr val="1F2933"/>
                </a:solidFill>
                <a:latin typeface="Calibri"/>
              </a:rPr>
              <a:t>locations</a:t>
            </a:r>
          </a:p>
        </p:txBody>
      </p:sp>
      <p:sp>
        <p:nvSpPr>
          <p:cNvPr id="15" name="Collection card"/>
          <p:cNvSpPr/>
          <p:nvPr/>
        </p:nvSpPr>
        <p:spPr>
          <a:xfrm>
            <a:off x="548640" y="4023360"/>
            <a:ext cx="5486400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20624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0F2A43"/>
                </a:solidFill>
                <a:latin typeface="Calibri"/>
              </a:rPr>
              <a:t>How it was collected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663440"/>
            <a:ext cx="493776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F2933"/>
                </a:solidFill>
                <a:latin typeface="Calibri"/>
              </a:rPr>
              <a:t>Own Python scraper, so the data is new and local</a:t>
            </a:r>
          </a:p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F2933"/>
                </a:solidFill>
                <a:latin typeface="Calibri"/>
              </a:rPr>
              <a:t>robots.txt respected, 1.5 s delay between requests</a:t>
            </a:r>
          </a:p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F2933"/>
                </a:solidFill>
                <a:latin typeface="Calibri"/>
              </a:rPr>
              <a:t>Resumable, with retries on timeouts</a:t>
            </a:r>
          </a:p>
        </p:txBody>
      </p:sp>
      <p:sp>
        <p:nvSpPr>
          <p:cNvPr id="18" name="Target card"/>
          <p:cNvSpPr/>
          <p:nvPr/>
        </p:nvSpPr>
        <p:spPr>
          <a:xfrm>
            <a:off x="6217920" y="4023360"/>
            <a:ext cx="5422392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420624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0F2A43"/>
                </a:solidFill>
                <a:latin typeface="Calibri"/>
              </a:rPr>
              <a:t>What is predicted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4663440"/>
            <a:ext cx="48463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F2933"/>
                </a:solidFill>
                <a:latin typeface="Calibri"/>
              </a:rPr>
              <a:t>Target: asking price in LKR</a:t>
            </a:r>
          </a:p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F2933"/>
                </a:solidFill>
                <a:latin typeface="Calibri"/>
              </a:rPr>
              <a:t>Inputs: brand, model, year, condition, fuel, transmission, body, engine, mileage, location</a:t>
            </a:r>
          </a:p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5B6B7A"/>
                </a:solidFill>
                <a:latin typeface="Calibri"/>
              </a:rPr>
              <a:t>Limit: asking price, not final sale price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>
                <a:solidFill>
                  <a:srgbClr val="0F2A43"/>
                </a:solidFill>
                <a:latin typeface="Cambria"/>
              </a:rPr>
              <a:t>What the data looked like</a:t>
            </a:r>
          </a:p>
        </p:txBody>
      </p:sp>
      <p:sp>
        <p:nvSpPr>
          <p:cNvPr id="3" name="Chart card"/>
          <p:cNvSpPr/>
          <p:nvPr/>
        </p:nvSpPr>
        <p:spPr>
          <a:xfrm>
            <a:off x="548640" y="1371600"/>
            <a:ext cx="11091672" cy="2788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rice distribution: raw price is skewed, log price is symmetric" descr="Price distribution: raw price is skewed, log price is symmetric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463040"/>
            <a:ext cx="10817352" cy="2595136"/>
          </a:xfrm>
          <a:prstGeom prst="rect">
            <a:avLst/>
          </a:prstGeom>
        </p:spPr>
      </p:pic>
      <p:sp>
        <p:nvSpPr>
          <p:cNvPr id="5" name="Finding 1"/>
          <p:cNvSpPr/>
          <p:nvPr/>
        </p:nvSpPr>
        <p:spPr>
          <a:xfrm>
            <a:off x="548640" y="4389120"/>
            <a:ext cx="3593592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526280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B7F8C"/>
                </a:solidFill>
                <a:latin typeface="Calibri"/>
              </a:rPr>
              <a:t>Skewed price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937760"/>
            <a:ext cx="315468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F2933"/>
                </a:solidFill>
                <a:latin typeface="Calibri"/>
              </a:rPr>
              <a:t>A few LKR 200M+ cars dominate raw rupees, so the models train on log(price).</a:t>
            </a:r>
          </a:p>
        </p:txBody>
      </p:sp>
      <p:sp>
        <p:nvSpPr>
          <p:cNvPr id="8" name="Finding 2"/>
          <p:cNvSpPr/>
          <p:nvPr/>
        </p:nvSpPr>
        <p:spPr>
          <a:xfrm>
            <a:off x="4297679" y="4389120"/>
            <a:ext cx="3593592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79" y="4526280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B7F8C"/>
                </a:solidFill>
                <a:latin typeface="Calibri"/>
              </a:rPr>
              <a:t>Condition and 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26279" y="4937760"/>
            <a:ext cx="315468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F2933"/>
                </a:solidFill>
                <a:latin typeface="Calibri"/>
              </a:rPr>
              <a:t>Brand New and Import sit above Reconditioned, which sits above Used. Depreciation is non-linear.</a:t>
            </a:r>
          </a:p>
        </p:txBody>
      </p:sp>
      <p:sp>
        <p:nvSpPr>
          <p:cNvPr id="11" name="Finding 3"/>
          <p:cNvSpPr/>
          <p:nvPr/>
        </p:nvSpPr>
        <p:spPr>
          <a:xfrm>
            <a:off x="8046719" y="4389120"/>
            <a:ext cx="3593592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19" y="4526280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B7F8C"/>
                </a:solidFill>
                <a:latin typeface="Calibri"/>
              </a:rPr>
              <a:t>High-cardinality models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5319" y="4937760"/>
            <a:ext cx="315468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F2933"/>
                </a:solidFill>
                <a:latin typeface="Calibri"/>
              </a:rPr>
              <a:t>351 car models make this a categorical problem, which suits CatBoost.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>
                <a:solidFill>
                  <a:srgbClr val="0F2A43"/>
                </a:solidFill>
                <a:latin typeface="Cambria"/>
              </a:rPr>
              <a:t>Cleaning real, messy data with local knowledge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508760"/>
          <a:ext cx="11091672" cy="356616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377440"/>
                <a:gridCol w="4297680"/>
                <a:gridCol w="4416552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Issue found</a:t>
                      </a:r>
                    </a:p>
                  </a:txBody>
                  <a:tcPr marL="109728" marR="109728" marT="54864" marB="54864" anchor="ctr">
                    <a:solidFill>
                      <a:srgbClr val="0F2A4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Examples</a:t>
                      </a:r>
                    </a:p>
                  </a:txBody>
                  <a:tcPr marL="109728" marR="109728" marT="54864" marB="54864" anchor="ctr">
                    <a:solidFill>
                      <a:srgbClr val="0F2A4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Decision</a:t>
                      </a:r>
                    </a:p>
                  </a:txBody>
                  <a:tcPr marL="109728" marR="109728" marT="54864" marB="54864" anchor="ctr">
                    <a:solidFill>
                      <a:srgbClr val="0F2A43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2933"/>
                          </a:solidFill>
                          <a:latin typeface="Calibri"/>
                        </a:rPr>
                        <a:t>Impossible prices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933"/>
                          </a:solidFill>
                          <a:latin typeface="Calibri"/>
                        </a:rPr>
                        <a:t>LKR 0, 106, 123456; a 595M BMW with a 1 cc "electric" engine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933"/>
                          </a:solidFill>
                          <a:latin typeface="Calibri"/>
                        </a:rPr>
                        <a:t>Drop 14 rows: a target cannot be imputed honestly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2933"/>
                          </a:solidFill>
                          <a:latin typeface="Calibri"/>
                        </a:rPr>
                        <a:t>Impossible inputs</a:t>
                      </a:r>
                    </a:p>
                  </a:txBody>
                  <a:tcPr marL="109728" marR="109728" marT="54864" marB="54864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933"/>
                          </a:solidFill>
                          <a:latin typeface="Calibri"/>
                        </a:rPr>
                        <a:t>Year 2027; engine under 300 cc; mileage 1, 10, 123456</a:t>
                      </a:r>
                    </a:p>
                  </a:txBody>
                  <a:tcPr marL="109728" marR="109728" marT="54864" marB="54864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933"/>
                          </a:solidFill>
                          <a:latin typeface="Calibri"/>
                        </a:rPr>
                        <a:t>Set to missing, then impute: engine from the same model, mileage from the same condition</a:t>
                      </a:r>
                    </a:p>
                  </a:txBody>
                  <a:tcPr marL="109728" marR="109728" marT="54864" marB="54864" anchor="ctr">
                    <a:solidFill>
                      <a:srgbClr val="EEF2F6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2933"/>
                          </a:solidFill>
                          <a:latin typeface="Calibri"/>
                        </a:rPr>
                        <a:t>EV engine is kW, not cc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933"/>
                          </a:solidFill>
                          <a:latin typeface="Calibri"/>
                        </a:rPr>
                        <a:t>Electric cars list a kW rating as the engine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933"/>
                          </a:solidFill>
                          <a:latin typeface="Calibri"/>
                        </a:rPr>
                        <a:t>Set to 0; fuel type carries the information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2933"/>
                          </a:solidFill>
                          <a:latin typeface="Calibri"/>
                        </a:rPr>
                        <a:t>Real but unusual</a:t>
                      </a:r>
                    </a:p>
                  </a:txBody>
                  <a:tcPr marL="109728" marR="109728" marT="54864" marB="54864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933"/>
                          </a:solidFill>
                          <a:latin typeface="Calibri"/>
                        </a:rPr>
                        <a:t>1970s Nissan Sunny, VW Beetle; Porsche, Bentley</a:t>
                      </a:r>
                    </a:p>
                  </a:txBody>
                  <a:tcPr marL="109728" marR="109728" marT="54864" marB="54864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933"/>
                          </a:solidFill>
                          <a:latin typeface="Calibri"/>
                        </a:rPr>
                        <a:t>Keep: genuine local market segments</a:t>
                      </a:r>
                    </a:p>
                  </a:txBody>
                  <a:tcPr marL="109728" marR="109728" marT="54864" marB="54864" anchor="ctr">
                    <a:solidFill>
                      <a:srgbClr val="EEF2F6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5303520"/>
            <a:ext cx="1109167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5B6B7A"/>
                </a:solidFill>
                <a:latin typeface="Calibri"/>
              </a:rPr>
              <a:t>Also: age and km-per-year engineered · rare models and locations grouped as "Other" · ordinal, one-hot and native categorical encoding · numeric scaling · all steps fitted on training data only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>
                <a:solidFill>
                  <a:srgbClr val="0F2A43"/>
                </a:solidFill>
                <a:latin typeface="Cambria"/>
              </a:rPr>
              <a:t>Models and tuning: no default parameters</a:t>
            </a:r>
          </a:p>
        </p:txBody>
      </p:sp>
      <p:sp>
        <p:nvSpPr>
          <p:cNvPr id="3" name="Column 1"/>
          <p:cNvSpPr/>
          <p:nvPr/>
        </p:nvSpPr>
        <p:spPr>
          <a:xfrm>
            <a:off x="548640" y="1508760"/>
            <a:ext cx="3593592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olumn head 1"/>
          <p:cNvSpPr/>
          <p:nvPr/>
        </p:nvSpPr>
        <p:spPr>
          <a:xfrm>
            <a:off x="548640" y="1508760"/>
            <a:ext cx="3593592" cy="868680"/>
          </a:xfrm>
          <a:prstGeom prst="roundRect">
            <a:avLst>
              <a:gd name="adj" fmla="val 6000"/>
            </a:avLst>
          </a:prstGeom>
          <a:solidFill>
            <a:srgbClr val="9CA9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572768"/>
            <a:ext cx="3154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Baselines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011680"/>
            <a:ext cx="31546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existing approaches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560320"/>
            <a:ext cx="315468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0" i="0">
                <a:solidFill>
                  <a:srgbClr val="1F2933"/>
                </a:solidFill>
                <a:latin typeface="Calibri"/>
              </a:rPr>
              <a:t>Ridge regression</a:t>
            </a:r>
          </a:p>
          <a:p>
            <a:pPr algn="l">
              <a:spcAft>
                <a:spcPts val="500"/>
              </a:spcAft>
            </a:pPr>
            <a:r>
              <a:rPr sz="1600" b="0" i="0">
                <a:solidFill>
                  <a:srgbClr val="1F2933"/>
                </a:solidFill>
                <a:latin typeface="Calibri"/>
              </a:rPr>
              <a:t>Decision tree</a:t>
            </a:r>
          </a:p>
        </p:txBody>
      </p:sp>
      <p:sp>
        <p:nvSpPr>
          <p:cNvPr id="8" name="Column 2"/>
          <p:cNvSpPr/>
          <p:nvPr/>
        </p:nvSpPr>
        <p:spPr>
          <a:xfrm>
            <a:off x="4297679" y="1508760"/>
            <a:ext cx="3593592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olumn head 2"/>
          <p:cNvSpPr/>
          <p:nvPr/>
        </p:nvSpPr>
        <p:spPr>
          <a:xfrm>
            <a:off x="4297679" y="1508760"/>
            <a:ext cx="3593592" cy="868680"/>
          </a:xfrm>
          <a:prstGeom prst="roundRect">
            <a:avLst>
              <a:gd name="adj" fmla="val 6000"/>
            </a:avLst>
          </a:prstGeom>
          <a:solidFill>
            <a:srgbClr val="1B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26279" y="1572768"/>
            <a:ext cx="3154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Tuned single models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26279" y="2011680"/>
            <a:ext cx="31546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5-fold randomised search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6279" y="2560320"/>
            <a:ext cx="315468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0" i="0">
                <a:solidFill>
                  <a:srgbClr val="1F2933"/>
                </a:solidFill>
                <a:latin typeface="Calibri"/>
              </a:rPr>
              <a:t>Random Forest</a:t>
            </a:r>
          </a:p>
          <a:p>
            <a:pPr algn="l">
              <a:spcAft>
                <a:spcPts val="500"/>
              </a:spcAft>
            </a:pPr>
            <a:r>
              <a:rPr sz="1600" b="0" i="0">
                <a:solidFill>
                  <a:srgbClr val="1F2933"/>
                </a:solidFill>
                <a:latin typeface="Calibri"/>
              </a:rPr>
              <a:t>XGBoost</a:t>
            </a:r>
          </a:p>
          <a:p>
            <a:pPr algn="l">
              <a:spcAft>
                <a:spcPts val="500"/>
              </a:spcAft>
            </a:pPr>
            <a:r>
              <a:rPr sz="1600" b="0" i="0">
                <a:solidFill>
                  <a:srgbClr val="1F2933"/>
                </a:solidFill>
                <a:latin typeface="Calibri"/>
              </a:rPr>
              <a:t>LightGBM</a:t>
            </a:r>
          </a:p>
          <a:p>
            <a:pPr algn="l">
              <a:spcAft>
                <a:spcPts val="500"/>
              </a:spcAft>
            </a:pPr>
            <a:r>
              <a:rPr sz="1600" b="0" i="0">
                <a:solidFill>
                  <a:srgbClr val="1F2933"/>
                </a:solidFill>
                <a:latin typeface="Calibri"/>
              </a:rPr>
              <a:t>CatBoost</a:t>
            </a:r>
          </a:p>
          <a:p>
            <a:pPr algn="l">
              <a:spcAft>
                <a:spcPts val="500"/>
              </a:spcAft>
            </a:pPr>
            <a:r>
              <a:rPr sz="1600" b="0" i="0">
                <a:solidFill>
                  <a:srgbClr val="1F2933"/>
                </a:solidFill>
                <a:latin typeface="Calibri"/>
              </a:rPr>
              <a:t>Gradient Boosting</a:t>
            </a:r>
          </a:p>
        </p:txBody>
      </p:sp>
      <p:sp>
        <p:nvSpPr>
          <p:cNvPr id="13" name="Column 3"/>
          <p:cNvSpPr/>
          <p:nvPr/>
        </p:nvSpPr>
        <p:spPr>
          <a:xfrm>
            <a:off x="8046719" y="1508760"/>
            <a:ext cx="3593592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Column head 3"/>
          <p:cNvSpPr/>
          <p:nvPr/>
        </p:nvSpPr>
        <p:spPr>
          <a:xfrm>
            <a:off x="8046719" y="1508760"/>
            <a:ext cx="3593592" cy="868680"/>
          </a:xfrm>
          <a:prstGeom prst="roundRect">
            <a:avLst>
              <a:gd name="adj" fmla="val 6000"/>
            </a:avLst>
          </a:prstGeom>
          <a:solidFill>
            <a:srgbClr val="F4A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5319" y="1572768"/>
            <a:ext cx="3154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0F2A43"/>
                </a:solidFill>
                <a:latin typeface="Calibri"/>
              </a:rPr>
              <a:t>Ensembles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5319" y="2011680"/>
            <a:ext cx="31546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0F2A43"/>
                </a:solidFill>
                <a:latin typeface="Calibri"/>
              </a:rPr>
              <a:t>combine the boosters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19" y="2560320"/>
            <a:ext cx="315468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0" i="0">
                <a:solidFill>
                  <a:srgbClr val="1F2933"/>
                </a:solidFill>
                <a:latin typeface="Calibri"/>
              </a:rPr>
              <a:t>Voting (average)</a:t>
            </a:r>
          </a:p>
          <a:p>
            <a:pPr algn="l">
              <a:spcAft>
                <a:spcPts val="500"/>
              </a:spcAft>
            </a:pPr>
            <a:r>
              <a:rPr sz="1600" b="0" i="0">
                <a:solidFill>
                  <a:srgbClr val="1F2933"/>
                </a:solidFill>
                <a:latin typeface="Calibri"/>
              </a:rPr>
              <a:t>Stacking (Ridge meta-learner on out-of-fold predictions)</a:t>
            </a:r>
          </a:p>
        </p:txBody>
      </p:sp>
      <p:sp>
        <p:nvSpPr>
          <p:cNvPr id="18" name="Parameter design"/>
          <p:cNvSpPr/>
          <p:nvPr/>
        </p:nvSpPr>
        <p:spPr>
          <a:xfrm>
            <a:off x="548640" y="4846320"/>
            <a:ext cx="11091672" cy="1371600"/>
          </a:xfrm>
          <a:prstGeom prst="roundRect">
            <a:avLst>
              <a:gd name="adj" fmla="val 6000"/>
            </a:avLst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95604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4A83A"/>
                </a:solidFill>
                <a:latin typeface="Calibri"/>
              </a:rPr>
              <a:t>Ranges designed from how each algorithm works and from ~2,400 training rows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376672"/>
            <a:ext cx="105156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Boosters: shallow trees (depth 3–8), small learning rates (0.02–0.15), row and column subsampling, L2 penalty 0.5–10. Random Forest: deep trees (8–30), 300–900 trees.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>
                <a:solidFill>
                  <a:srgbClr val="0F2A43"/>
                </a:solidFill>
                <a:latin typeface="Cambria"/>
              </a:rPr>
              <a:t>Ensembles cut error from 23.5% to about 13%</a:t>
            </a:r>
          </a:p>
        </p:txBody>
      </p:sp>
      <p:sp>
        <p:nvSpPr>
          <p:cNvPr id="3" name="Chart card"/>
          <p:cNvSpPr/>
          <p:nvPr/>
        </p:nvSpPr>
        <p:spPr>
          <a:xfrm>
            <a:off x="548640" y="1371600"/>
            <a:ext cx="7040880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Average error by model"/>
          <p:cNvGraphicFramePr>
            <a:graphicFrameLocks noGrp="1"/>
          </p:cNvGraphicFramePr>
          <p:nvPr/>
        </p:nvGraphicFramePr>
        <p:xfrm>
          <a:off x="685800" y="1783080"/>
          <a:ext cx="6766560" cy="43434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22960" y="1481328"/>
            <a:ext cx="65836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F2A43"/>
                </a:solidFill>
                <a:latin typeface="Calibri"/>
              </a:rPr>
              <a:t>Average % error on 600 unseen cars (lower is better)</a:t>
            </a:r>
          </a:p>
        </p:txBody>
      </p:sp>
      <p:sp>
        <p:nvSpPr>
          <p:cNvPr id="6" name="Result 1"/>
          <p:cNvSpPr/>
          <p:nvPr/>
        </p:nvSpPr>
        <p:spPr>
          <a:xfrm>
            <a:off x="7863840" y="1371600"/>
            <a:ext cx="3776472" cy="14813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92440" y="1481328"/>
            <a:ext cx="33832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>
                <a:solidFill>
                  <a:srgbClr val="1B7F8C"/>
                </a:solidFill>
                <a:latin typeface="Cambria"/>
              </a:rPr>
              <a:t>0.914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92440" y="2148840"/>
            <a:ext cx="3383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F2933"/>
                </a:solidFill>
                <a:latin typeface="Calibri"/>
              </a:rPr>
              <a:t>R² of the stacked model on the test set</a:t>
            </a:r>
          </a:p>
        </p:txBody>
      </p:sp>
      <p:sp>
        <p:nvSpPr>
          <p:cNvPr id="9" name="Result 2"/>
          <p:cNvSpPr/>
          <p:nvPr/>
        </p:nvSpPr>
        <p:spPr>
          <a:xfrm>
            <a:off x="7863840" y="3017520"/>
            <a:ext cx="3776472" cy="14813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92440" y="3127248"/>
            <a:ext cx="33832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800" b="1" i="0">
                <a:solidFill>
                  <a:srgbClr val="1B7F8C"/>
                </a:solidFill>
                <a:latin typeface="Cambria"/>
              </a:rPr>
              <a:t>CatBoost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3794759"/>
            <a:ext cx="3383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F2933"/>
                </a:solidFill>
                <a:latin typeface="Calibri"/>
              </a:rPr>
              <a:t>best single model, thanks to native categorical handling</a:t>
            </a:r>
          </a:p>
        </p:txBody>
      </p:sp>
      <p:sp>
        <p:nvSpPr>
          <p:cNvPr id="12" name="Result 3"/>
          <p:cNvSpPr/>
          <p:nvPr/>
        </p:nvSpPr>
        <p:spPr>
          <a:xfrm>
            <a:off x="7863840" y="4663440"/>
            <a:ext cx="3776472" cy="14813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92440" y="4773168"/>
            <a:ext cx="33832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>
                <a:solidFill>
                  <a:srgbClr val="1B7F8C"/>
                </a:solidFill>
                <a:latin typeface="Cambria"/>
              </a:rPr>
              <a:t>0.76 / 0.74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92440" y="5440679"/>
            <a:ext cx="3383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F2933"/>
                </a:solidFill>
                <a:latin typeface="Calibri"/>
              </a:rPr>
              <a:t>R² of the Ridge and Decision Tree baselines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>
                <a:solidFill>
                  <a:srgbClr val="0F2A43"/>
                </a:solidFill>
                <a:latin typeface="Cambria"/>
              </a:rPr>
              <a:t>Each model has trade-offs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463040"/>
          <a:ext cx="11091672" cy="41148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377440"/>
                <a:gridCol w="3931920"/>
                <a:gridCol w="4782312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 marL="109728" marR="109728" marT="54864" marB="54864" anchor="ctr">
                    <a:solidFill>
                      <a:srgbClr val="0F2A4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Strength</a:t>
                      </a:r>
                    </a:p>
                  </a:txBody>
                  <a:tcPr marL="109728" marR="109728" marT="54864" marB="54864" anchor="ctr">
                    <a:solidFill>
                      <a:srgbClr val="0F2A4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Limitation seen in this project</a:t>
                      </a:r>
                    </a:p>
                  </a:txBody>
                  <a:tcPr marL="109728" marR="109728" marT="54864" marB="54864" anchor="ctr">
                    <a:solidFill>
                      <a:srgbClr val="0F2A43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2933"/>
                          </a:solidFill>
                          <a:latin typeface="Calibri"/>
                        </a:rPr>
                        <a:t>Ridge / linear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933"/>
                          </a:solidFill>
                          <a:latin typeface="Calibri"/>
                        </a:rPr>
                        <a:t>Fast and transparent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933"/>
                          </a:solidFill>
                          <a:latin typeface="Calibri"/>
                        </a:rPr>
                        <a:t>Cannot capture non-linear depreciation; poor in rupees (R² 0.76)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2933"/>
                          </a:solidFill>
                          <a:latin typeface="Calibri"/>
                        </a:rPr>
                        <a:t>Random Forest</a:t>
                      </a:r>
                    </a:p>
                  </a:txBody>
                  <a:tcPr marL="109728" marR="109728" marT="54864" marB="54864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933"/>
                          </a:solidFill>
                          <a:latin typeface="Calibri"/>
                        </a:rPr>
                        <a:t>Robust, little tuning</a:t>
                      </a:r>
                    </a:p>
                  </a:txBody>
                  <a:tcPr marL="109728" marR="109728" marT="54864" marB="54864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933"/>
                          </a:solidFill>
                          <a:latin typeface="Calibri"/>
                        </a:rPr>
                        <a:t>Cannot extrapolate: luxury cars come out too cheap</a:t>
                      </a:r>
                    </a:p>
                  </a:txBody>
                  <a:tcPr marL="109728" marR="109728" marT="54864" marB="54864" anchor="ctr">
                    <a:solidFill>
                      <a:srgbClr val="EEF2F6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2933"/>
                          </a:solidFill>
                          <a:latin typeface="Calibri"/>
                        </a:rPr>
                        <a:t>XGBoost / LightGBM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933"/>
                          </a:solidFill>
                          <a:latin typeface="Calibri"/>
                        </a:rPr>
                        <a:t>Accurate, regularised, fast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933"/>
                          </a:solidFill>
                          <a:latin typeface="Calibri"/>
                        </a:rPr>
                        <a:t>Needs careful tuning; categories must be encoded by hand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2933"/>
                          </a:solidFill>
                          <a:latin typeface="Calibri"/>
                        </a:rPr>
                        <a:t>CatBoost</a:t>
                      </a:r>
                    </a:p>
                  </a:txBody>
                  <a:tcPr marL="109728" marR="109728" marT="54864" marB="54864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933"/>
                          </a:solidFill>
                          <a:latin typeface="Calibri"/>
                        </a:rPr>
                        <a:t>Native categorical handling: best single model</a:t>
                      </a:r>
                    </a:p>
                  </a:txBody>
                  <a:tcPr marL="109728" marR="109728" marT="54864" marB="54864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933"/>
                          </a:solidFill>
                          <a:latin typeface="Calibri"/>
                        </a:rPr>
                        <a:t>Slowest to train</a:t>
                      </a:r>
                    </a:p>
                  </a:txBody>
                  <a:tcPr marL="109728" marR="109728" marT="54864" marB="54864" anchor="ctr">
                    <a:solidFill>
                      <a:srgbClr val="EEF2F6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2933"/>
                          </a:solidFill>
                          <a:latin typeface="Calibri"/>
                        </a:rPr>
                        <a:t>Voting / Stacking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933"/>
                          </a:solidFill>
                          <a:latin typeface="Calibri"/>
                        </a:rPr>
                        <a:t>Combine different error patterns; best R²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933"/>
                          </a:solidFill>
                          <a:latin typeface="Calibri"/>
                        </a:rPr>
                        <a:t>Most complex; small gain over CatBoost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>
                <a:solidFill>
                  <a:srgbClr val="0F2A43"/>
                </a:solidFill>
                <a:latin typeface="Cambria"/>
              </a:rPr>
              <a:t>SHAP and LIME show why a car gets its price</a:t>
            </a:r>
          </a:p>
        </p:txBody>
      </p:sp>
      <p:sp>
        <p:nvSpPr>
          <p:cNvPr id="3" name="SHAP card"/>
          <p:cNvSpPr/>
          <p:nvPr/>
        </p:nvSpPr>
        <p:spPr>
          <a:xfrm>
            <a:off x="548640" y="1417320"/>
            <a:ext cx="5394960" cy="3794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LIME card"/>
          <p:cNvSpPr/>
          <p:nvPr/>
        </p:nvSpPr>
        <p:spPr>
          <a:xfrm>
            <a:off x="6245352" y="1417320"/>
            <a:ext cx="5394960" cy="3794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SHAP bar chart: engine size, age and mileage matter most" descr="SHAP bar chart: engine size, age and mileage matter mos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7164" y="1481328"/>
            <a:ext cx="3877911" cy="3383280"/>
          </a:xfrm>
          <a:prstGeom prst="rect">
            <a:avLst/>
          </a:prstGeom>
        </p:spPr>
      </p:pic>
      <p:pic>
        <p:nvPicPr>
          <p:cNvPr id="6" name="LIME explanation for a 2018 Suzuki Alto" descr="LIME explanation for a 2018 Suzuki Alt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4222" y="1481328"/>
            <a:ext cx="4557219" cy="33832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4572000"/>
            <a:ext cx="5029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0F2A43"/>
                </a:solidFill>
                <a:latin typeface="Calibri"/>
              </a:rPr>
              <a:t>SHAP: engine size, age and mileage matter most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28232" y="4572000"/>
            <a:ext cx="5029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0F2A43"/>
                </a:solidFill>
                <a:latin typeface="Calibri"/>
              </a:rPr>
              <a:t>LIME: this Alto is cheaper because of its small engine and manual gearbox</a:t>
            </a:r>
          </a:p>
        </p:txBody>
      </p:sp>
      <p:sp>
        <p:nvSpPr>
          <p:cNvPr id="9" name="Takeaway"/>
          <p:cNvSpPr/>
          <p:nvPr/>
        </p:nvSpPr>
        <p:spPr>
          <a:xfrm>
            <a:off x="548640" y="5440680"/>
            <a:ext cx="11091672" cy="868680"/>
          </a:xfrm>
          <a:prstGeom prst="roundRect">
            <a:avLst>
              <a:gd name="adj" fmla="val 6000"/>
            </a:avLst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5440680"/>
            <a:ext cx="1051560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Calibri"/>
              </a:rPr>
              <a:t>LIME also flagged an implausible mileage on a 2007 Hyundai Santa Fe, so explanations double as a data-quality check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>
                <a:solidFill>
                  <a:srgbClr val="0F2A43"/>
                </a:solidFill>
                <a:latin typeface="Cambria"/>
              </a:rPr>
              <a:t>Live demo, limits and next steps</a:t>
            </a:r>
          </a:p>
        </p:txBody>
      </p:sp>
      <p:sp>
        <p:nvSpPr>
          <p:cNvPr id="3" name="App card"/>
          <p:cNvSpPr/>
          <p:nvPr/>
        </p:nvSpPr>
        <p:spPr>
          <a:xfrm>
            <a:off x="548640" y="1417320"/>
            <a:ext cx="5852160" cy="4754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Streamlit app: inputs and predicted price" descr="Streamlit app: inputs and predicted pric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08760"/>
            <a:ext cx="5669280" cy="3798902"/>
          </a:xfrm>
          <a:prstGeom prst="rect">
            <a:avLst/>
          </a:prstGeom>
        </p:spPr>
      </p:pic>
      <p:sp>
        <p:nvSpPr>
          <p:cNvPr id="5" name="Held-out car"/>
          <p:cNvSpPr/>
          <p:nvPr/>
        </p:nvSpPr>
        <p:spPr>
          <a:xfrm>
            <a:off x="6675120" y="1417320"/>
            <a:ext cx="4965192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903720" y="1508760"/>
            <a:ext cx="4526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F2A43"/>
                </a:solidFill>
                <a:latin typeface="Calibri"/>
              </a:rPr>
              <a:t>Held-out test car: Daihatsu Mira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03720" y="1920240"/>
            <a:ext cx="4526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B7F8C"/>
                </a:solidFill>
                <a:latin typeface="Cambria"/>
              </a:rPr>
              <a:t>−0.6% error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03720" y="2514600"/>
            <a:ext cx="4526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F2933"/>
                </a:solidFill>
                <a:latin typeface="Calibri"/>
              </a:rPr>
              <a:t>Predicted LKR 7.43M vs actual LKR 7.48M</a:t>
            </a:r>
          </a:p>
        </p:txBody>
      </p:sp>
      <p:sp>
        <p:nvSpPr>
          <p:cNvPr id="9" name="Limits"/>
          <p:cNvSpPr/>
          <p:nvPr/>
        </p:nvSpPr>
        <p:spPr>
          <a:xfrm>
            <a:off x="6675120" y="3200400"/>
            <a:ext cx="4965192" cy="1325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03720" y="3291840"/>
            <a:ext cx="4526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F2A43"/>
                </a:solidFill>
                <a:latin typeface="Calibri"/>
              </a:rPr>
              <a:t>Limits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03720" y="3703320"/>
            <a:ext cx="45262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F2933"/>
                </a:solidFill>
                <a:latin typeface="Calibri"/>
              </a:rPr>
              <a:t>Asking prices, one website, 3,000 ads, few comparables for rare cars</a:t>
            </a:r>
          </a:p>
        </p:txBody>
      </p:sp>
      <p:sp>
        <p:nvSpPr>
          <p:cNvPr id="12" name="Next steps"/>
          <p:cNvSpPr/>
          <p:nvPr/>
        </p:nvSpPr>
        <p:spPr>
          <a:xfrm>
            <a:off x="6675120" y="4709160"/>
            <a:ext cx="4965192" cy="1463040"/>
          </a:xfrm>
          <a:prstGeom prst="roundRect">
            <a:avLst>
              <a:gd name="adj" fmla="val 6000"/>
            </a:avLst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03720" y="4800600"/>
            <a:ext cx="4526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4A83A"/>
                </a:solidFill>
                <a:latin typeface="Calibri"/>
              </a:rPr>
              <a:t>Next steps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03720" y="5212080"/>
            <a:ext cx="4526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Add time-series for market drift, more data sources, and MLOps deployment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